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659" r:id="rId1"/>
  </p:sldMasterIdLst>
  <p:notesMasterIdLst>
    <p:notesMasterId r:id="rId18"/>
  </p:notesMasterIdLst>
  <p:sldIdLst>
    <p:sldId id="256" r:id="rId2"/>
    <p:sldId id="264" r:id="rId3"/>
    <p:sldId id="280" r:id="rId4"/>
    <p:sldId id="308" r:id="rId5"/>
    <p:sldId id="293" r:id="rId6"/>
    <p:sldId id="296" r:id="rId7"/>
    <p:sldId id="294" r:id="rId8"/>
    <p:sldId id="297" r:id="rId9"/>
    <p:sldId id="298" r:id="rId10"/>
    <p:sldId id="306" r:id="rId11"/>
    <p:sldId id="300" r:id="rId12"/>
    <p:sldId id="305" r:id="rId13"/>
    <p:sldId id="307" r:id="rId14"/>
    <p:sldId id="291" r:id="rId15"/>
    <p:sldId id="299" r:id="rId16"/>
    <p:sldId id="295" r:id="rId17"/>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21596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p:cViewPr varScale="1">
        <p:scale>
          <a:sx n="71" d="100"/>
          <a:sy n="71" d="100"/>
        </p:scale>
        <p:origin x="672" y="60"/>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FC7733-8FA5-41D4-AECB-6D822B8BE7DF}"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en-US"/>
        </a:p>
      </dgm:t>
    </dgm:pt>
    <dgm:pt modelId="{F3179F68-0DDD-4389-9718-DC1E8789D01D}">
      <dgm:prSet phldrT="[Text]" phldr="0"/>
      <dgm:spPr/>
      <dgm:t>
        <a:bodyPr/>
        <a:lstStyle/>
        <a:p>
          <a:pPr rtl="0"/>
          <a:r>
            <a:rPr lang="en-US" dirty="0">
              <a:latin typeface="Calibri"/>
            </a:rPr>
            <a:t>Data Preprocessing</a:t>
          </a:r>
          <a:endParaRPr lang="en-US" dirty="0"/>
        </a:p>
      </dgm:t>
    </dgm:pt>
    <dgm:pt modelId="{90C61DA8-E4CD-4B1E-BF2E-A9D6F9FF7C36}" type="parTrans" cxnId="{53EA1BC0-F7BB-4000-BE04-7666098B7065}">
      <dgm:prSet/>
      <dgm:spPr/>
      <dgm:t>
        <a:bodyPr/>
        <a:lstStyle/>
        <a:p>
          <a:endParaRPr lang="en-US"/>
        </a:p>
      </dgm:t>
    </dgm:pt>
    <dgm:pt modelId="{DE07ABE2-F0B0-46D3-8A3F-99317EF3DFFE}" type="sibTrans" cxnId="{53EA1BC0-F7BB-4000-BE04-7666098B7065}">
      <dgm:prSet/>
      <dgm:spPr/>
      <dgm:t>
        <a:bodyPr/>
        <a:lstStyle/>
        <a:p>
          <a:endParaRPr lang="en-US"/>
        </a:p>
      </dgm:t>
    </dgm:pt>
    <dgm:pt modelId="{AC3719A3-D1C8-4D26-BF05-81A0DE1BAAFE}">
      <dgm:prSet phldr="0"/>
      <dgm:spPr/>
      <dgm:t>
        <a:bodyPr/>
        <a:lstStyle/>
        <a:p>
          <a:pPr rtl="0"/>
          <a:r>
            <a:rPr lang="en-US" dirty="0">
              <a:latin typeface="Calibri"/>
            </a:rPr>
            <a:t>Model Evaluation </a:t>
          </a:r>
        </a:p>
      </dgm:t>
    </dgm:pt>
    <dgm:pt modelId="{A1E76C3D-B100-499F-A39A-A3ADBE6AC60C}" type="parTrans" cxnId="{7963FC87-6981-4179-AAD4-452F54E4CDAB}">
      <dgm:prSet/>
      <dgm:spPr/>
      <dgm:t>
        <a:bodyPr/>
        <a:lstStyle/>
        <a:p>
          <a:endParaRPr lang="en-US"/>
        </a:p>
      </dgm:t>
    </dgm:pt>
    <dgm:pt modelId="{FA7A6C4A-1E3B-4EC2-B96D-5E961566059F}" type="sibTrans" cxnId="{7963FC87-6981-4179-AAD4-452F54E4CDAB}">
      <dgm:prSet/>
      <dgm:spPr/>
      <dgm:t>
        <a:bodyPr/>
        <a:lstStyle/>
        <a:p>
          <a:endParaRPr lang="en-US"/>
        </a:p>
      </dgm:t>
    </dgm:pt>
    <dgm:pt modelId="{B28B808C-2F80-4E14-9CBD-4C7CFF920B6D}">
      <dgm:prSet phldr="0"/>
      <dgm:spPr/>
      <dgm:t>
        <a:bodyPr/>
        <a:lstStyle/>
        <a:p>
          <a:r>
            <a:rPr lang="en-US" sz="1400" dirty="0" smtClean="0">
              <a:latin typeface="Calibri"/>
            </a:rPr>
            <a:t>MobileNetV2, ResNet50, EfficientNet</a:t>
          </a:r>
          <a:endParaRPr lang="en-US" sz="1400" dirty="0">
            <a:latin typeface="Calibri"/>
          </a:endParaRPr>
        </a:p>
      </dgm:t>
    </dgm:pt>
    <dgm:pt modelId="{03C4CD80-D173-48BF-B20F-3EA285148EFE}" type="parTrans" cxnId="{1341BB68-FCF1-4B20-842A-4F779FBB7153}">
      <dgm:prSet/>
      <dgm:spPr/>
      <dgm:t>
        <a:bodyPr/>
        <a:lstStyle/>
        <a:p>
          <a:endParaRPr lang="en-US"/>
        </a:p>
      </dgm:t>
    </dgm:pt>
    <dgm:pt modelId="{311D89C8-9D60-4758-BC01-50D1CA73FDD5}" type="sibTrans" cxnId="{1341BB68-FCF1-4B20-842A-4F779FBB7153}">
      <dgm:prSet/>
      <dgm:spPr/>
      <dgm:t>
        <a:bodyPr/>
        <a:lstStyle/>
        <a:p>
          <a:endParaRPr lang="en-US"/>
        </a:p>
      </dgm:t>
    </dgm:pt>
    <dgm:pt modelId="{48A05A57-CF3F-49E6-976C-2E117D3E73BC}">
      <dgm:prSet phldr="0"/>
      <dgm:spPr/>
      <dgm:t>
        <a:bodyPr/>
        <a:lstStyle/>
        <a:p>
          <a:r>
            <a:rPr lang="en-US" sz="1400" dirty="0" smtClean="0">
              <a:latin typeface="Calibri"/>
            </a:rPr>
            <a:t>YOLOv3</a:t>
          </a:r>
          <a:endParaRPr lang="en-US" sz="1400" dirty="0">
            <a:latin typeface="Calibri"/>
          </a:endParaRPr>
        </a:p>
      </dgm:t>
    </dgm:pt>
    <dgm:pt modelId="{E4A8F704-28F1-48D0-99F8-575E83AB865B}" type="parTrans" cxnId="{C86D7F71-3833-4468-82A8-8FEEF58C15C2}">
      <dgm:prSet/>
      <dgm:spPr/>
      <dgm:t>
        <a:bodyPr/>
        <a:lstStyle/>
        <a:p>
          <a:endParaRPr lang="en-US"/>
        </a:p>
      </dgm:t>
    </dgm:pt>
    <dgm:pt modelId="{208D1402-6D42-4243-B97E-A4426023B57E}" type="sibTrans" cxnId="{C86D7F71-3833-4468-82A8-8FEEF58C15C2}">
      <dgm:prSet/>
      <dgm:spPr/>
      <dgm:t>
        <a:bodyPr/>
        <a:lstStyle/>
        <a:p>
          <a:endParaRPr lang="en-US"/>
        </a:p>
      </dgm:t>
    </dgm:pt>
    <dgm:pt modelId="{0D060172-E377-4D3F-ACE8-96F9E7CBEE31}">
      <dgm:prSet/>
      <dgm:spPr/>
      <dgm:t>
        <a:bodyPr/>
        <a:lstStyle/>
        <a:p>
          <a:r>
            <a:rPr lang="en-US" dirty="0" smtClean="0"/>
            <a:t>Data </a:t>
          </a:r>
          <a:r>
            <a:rPr lang="en-US" dirty="0"/>
            <a:t>Collection</a:t>
          </a:r>
        </a:p>
      </dgm:t>
    </dgm:pt>
    <dgm:pt modelId="{69D4FD4D-062D-4820-97F9-C1B498049B52}" type="parTrans" cxnId="{EFF5D220-8F3C-44DB-9CAD-80DC8F5BD1EC}">
      <dgm:prSet/>
      <dgm:spPr/>
      <dgm:t>
        <a:bodyPr/>
        <a:lstStyle/>
        <a:p>
          <a:endParaRPr lang="en-US"/>
        </a:p>
      </dgm:t>
    </dgm:pt>
    <dgm:pt modelId="{386BBD97-8415-4663-95C5-5A46310ADA72}" type="sibTrans" cxnId="{EFF5D220-8F3C-44DB-9CAD-80DC8F5BD1EC}">
      <dgm:prSet/>
      <dgm:spPr/>
      <dgm:t>
        <a:bodyPr/>
        <a:lstStyle/>
        <a:p>
          <a:endParaRPr lang="en-US"/>
        </a:p>
      </dgm:t>
    </dgm:pt>
    <dgm:pt modelId="{4820D7E0-95BA-43F8-A174-9C337A60F15C}">
      <dgm:prSet/>
      <dgm:spPr/>
      <dgm:t>
        <a:bodyPr/>
        <a:lstStyle/>
        <a:p>
          <a:r>
            <a:rPr lang="en-US" sz="1800" dirty="0" smtClean="0">
              <a:latin typeface="Calibri"/>
            </a:rPr>
            <a:t>Evaluation</a:t>
          </a:r>
        </a:p>
      </dgm:t>
    </dgm:pt>
    <dgm:pt modelId="{BE83663B-D1D9-41E5-B4BB-9C47E56125CE}" type="parTrans" cxnId="{F500082E-A1D3-4A78-95EF-4471B429F532}">
      <dgm:prSet/>
      <dgm:spPr/>
      <dgm:t>
        <a:bodyPr/>
        <a:lstStyle/>
        <a:p>
          <a:endParaRPr lang="en-US"/>
        </a:p>
      </dgm:t>
    </dgm:pt>
    <dgm:pt modelId="{53393FA1-5D4F-4C06-BB38-309A0A70D159}" type="sibTrans" cxnId="{F500082E-A1D3-4A78-95EF-4471B429F532}">
      <dgm:prSet/>
      <dgm:spPr/>
      <dgm:t>
        <a:bodyPr/>
        <a:lstStyle/>
        <a:p>
          <a:endParaRPr lang="en-US"/>
        </a:p>
      </dgm:t>
    </dgm:pt>
    <dgm:pt modelId="{06B9A30D-87D5-492A-9F3F-E1845B4B8C90}">
      <dgm:prSet/>
      <dgm:spPr/>
      <dgm:t>
        <a:bodyPr/>
        <a:lstStyle/>
        <a:p>
          <a:r>
            <a:rPr lang="en-US" dirty="0" smtClean="0"/>
            <a:t>Accuracy, Precision, Recall, F1-score,</a:t>
          </a:r>
          <a:endParaRPr lang="en-US" dirty="0"/>
        </a:p>
      </dgm:t>
    </dgm:pt>
    <dgm:pt modelId="{17236E56-6CDE-4E31-9E4E-41CBBE459542}" type="parTrans" cxnId="{C800554A-372F-4C67-A1E2-5CEF95AC8ACD}">
      <dgm:prSet/>
      <dgm:spPr/>
      <dgm:t>
        <a:bodyPr/>
        <a:lstStyle/>
        <a:p>
          <a:endParaRPr lang="en-US"/>
        </a:p>
      </dgm:t>
    </dgm:pt>
    <dgm:pt modelId="{91DBF845-9DF2-4E9D-B2E4-23C9AE4CF6E0}" type="sibTrans" cxnId="{C800554A-372F-4C67-A1E2-5CEF95AC8ACD}">
      <dgm:prSet/>
      <dgm:spPr/>
      <dgm:t>
        <a:bodyPr/>
        <a:lstStyle/>
        <a:p>
          <a:endParaRPr lang="en-US"/>
        </a:p>
      </dgm:t>
    </dgm:pt>
    <dgm:pt modelId="{82B3A020-E1D0-482F-B244-D9836C430533}">
      <dgm:prSet/>
      <dgm:spPr/>
      <dgm:t>
        <a:bodyPr/>
        <a:lstStyle/>
        <a:p>
          <a:r>
            <a:rPr lang="en-US" dirty="0" smtClean="0"/>
            <a:t>Result Generation</a:t>
          </a:r>
        </a:p>
      </dgm:t>
    </dgm:pt>
    <dgm:pt modelId="{DF0A0517-2685-42C6-86B8-4D60DED0F08F}" type="parTrans" cxnId="{12898478-695C-43E1-9D10-C5670483F579}">
      <dgm:prSet/>
      <dgm:spPr/>
      <dgm:t>
        <a:bodyPr/>
        <a:lstStyle/>
        <a:p>
          <a:endParaRPr lang="en-US"/>
        </a:p>
      </dgm:t>
    </dgm:pt>
    <dgm:pt modelId="{A6F45FA4-62B2-4EBB-85B6-7FB5C140ACCD}" type="sibTrans" cxnId="{12898478-695C-43E1-9D10-C5670483F579}">
      <dgm:prSet/>
      <dgm:spPr/>
      <dgm:t>
        <a:bodyPr/>
        <a:lstStyle/>
        <a:p>
          <a:endParaRPr lang="en-US"/>
        </a:p>
      </dgm:t>
    </dgm:pt>
    <dgm:pt modelId="{7265CF90-FB77-40DE-86CE-413029C42949}" type="pres">
      <dgm:prSet presAssocID="{06FC7733-8FA5-41D4-AECB-6D822B8BE7DF}" presName="linear" presStyleCnt="0">
        <dgm:presLayoutVars>
          <dgm:dir/>
          <dgm:animLvl val="lvl"/>
          <dgm:resizeHandles val="exact"/>
        </dgm:presLayoutVars>
      </dgm:prSet>
      <dgm:spPr/>
      <dgm:t>
        <a:bodyPr/>
        <a:lstStyle/>
        <a:p>
          <a:endParaRPr lang="en-US"/>
        </a:p>
      </dgm:t>
    </dgm:pt>
    <dgm:pt modelId="{1CAA8CF6-F800-4473-95B7-FA3B8E29E71B}" type="pres">
      <dgm:prSet presAssocID="{0D060172-E377-4D3F-ACE8-96F9E7CBEE31}" presName="parentLin" presStyleCnt="0"/>
      <dgm:spPr/>
    </dgm:pt>
    <dgm:pt modelId="{728189E9-FBC8-4BE4-912B-404043B456A6}" type="pres">
      <dgm:prSet presAssocID="{0D060172-E377-4D3F-ACE8-96F9E7CBEE31}" presName="parentLeftMargin" presStyleLbl="node1" presStyleIdx="0" presStyleCnt="5"/>
      <dgm:spPr/>
      <dgm:t>
        <a:bodyPr/>
        <a:lstStyle/>
        <a:p>
          <a:endParaRPr lang="en-US"/>
        </a:p>
      </dgm:t>
    </dgm:pt>
    <dgm:pt modelId="{5E7FD00D-73E3-49F7-B7CB-BF5B3A44C848}" type="pres">
      <dgm:prSet presAssocID="{0D060172-E377-4D3F-ACE8-96F9E7CBEE31}" presName="parentText" presStyleLbl="node1" presStyleIdx="0" presStyleCnt="5" custLinFactNeighborX="9305">
        <dgm:presLayoutVars>
          <dgm:chMax val="0"/>
          <dgm:bulletEnabled val="1"/>
        </dgm:presLayoutVars>
      </dgm:prSet>
      <dgm:spPr/>
      <dgm:t>
        <a:bodyPr/>
        <a:lstStyle/>
        <a:p>
          <a:endParaRPr lang="en-US"/>
        </a:p>
      </dgm:t>
    </dgm:pt>
    <dgm:pt modelId="{287ABC02-1DFC-42E6-995B-6A8ED57B1A94}" type="pres">
      <dgm:prSet presAssocID="{0D060172-E377-4D3F-ACE8-96F9E7CBEE31}" presName="negativeSpace" presStyleCnt="0"/>
      <dgm:spPr/>
    </dgm:pt>
    <dgm:pt modelId="{51A46A30-056F-455E-8B23-31BBCDC4D1FC}" type="pres">
      <dgm:prSet presAssocID="{0D060172-E377-4D3F-ACE8-96F9E7CBEE31}" presName="childText" presStyleLbl="conFgAcc1" presStyleIdx="0" presStyleCnt="5">
        <dgm:presLayoutVars>
          <dgm:bulletEnabled val="1"/>
        </dgm:presLayoutVars>
      </dgm:prSet>
      <dgm:spPr/>
    </dgm:pt>
    <dgm:pt modelId="{D7680A8E-AD1C-4542-9AA2-49281AF08D93}" type="pres">
      <dgm:prSet presAssocID="{386BBD97-8415-4663-95C5-5A46310ADA72}" presName="spaceBetweenRectangles" presStyleCnt="0"/>
      <dgm:spPr/>
    </dgm:pt>
    <dgm:pt modelId="{5EB3B5B1-26D7-4F15-AE03-6E189C8553AE}" type="pres">
      <dgm:prSet presAssocID="{F3179F68-0DDD-4389-9718-DC1E8789D01D}" presName="parentLin" presStyleCnt="0"/>
      <dgm:spPr/>
    </dgm:pt>
    <dgm:pt modelId="{EFD2C556-B087-4513-B521-3FCBEC610BD4}" type="pres">
      <dgm:prSet presAssocID="{F3179F68-0DDD-4389-9718-DC1E8789D01D}" presName="parentLeftMargin" presStyleLbl="node1" presStyleIdx="0" presStyleCnt="5"/>
      <dgm:spPr/>
      <dgm:t>
        <a:bodyPr/>
        <a:lstStyle/>
        <a:p>
          <a:endParaRPr lang="en-US"/>
        </a:p>
      </dgm:t>
    </dgm:pt>
    <dgm:pt modelId="{4BE00DA4-5F15-4114-BE1D-396D0EE6B587}" type="pres">
      <dgm:prSet presAssocID="{F3179F68-0DDD-4389-9718-DC1E8789D01D}" presName="parentText" presStyleLbl="node1" presStyleIdx="1" presStyleCnt="5">
        <dgm:presLayoutVars>
          <dgm:chMax val="0"/>
          <dgm:bulletEnabled val="1"/>
        </dgm:presLayoutVars>
      </dgm:prSet>
      <dgm:spPr/>
      <dgm:t>
        <a:bodyPr/>
        <a:lstStyle/>
        <a:p>
          <a:endParaRPr lang="en-US"/>
        </a:p>
      </dgm:t>
    </dgm:pt>
    <dgm:pt modelId="{E613D9E4-DF5D-402E-A2B7-B7BB3DC8D87A}" type="pres">
      <dgm:prSet presAssocID="{F3179F68-0DDD-4389-9718-DC1E8789D01D}" presName="negativeSpace" presStyleCnt="0"/>
      <dgm:spPr/>
    </dgm:pt>
    <dgm:pt modelId="{9F0708F1-2BB2-4331-9906-3BFAE16E84E9}" type="pres">
      <dgm:prSet presAssocID="{F3179F68-0DDD-4389-9718-DC1E8789D01D}" presName="childText" presStyleLbl="conFgAcc1" presStyleIdx="1" presStyleCnt="5">
        <dgm:presLayoutVars>
          <dgm:bulletEnabled val="1"/>
        </dgm:presLayoutVars>
      </dgm:prSet>
      <dgm:spPr/>
    </dgm:pt>
    <dgm:pt modelId="{3B03F1BA-A2A7-44D7-A1AB-19FE4FF91B2D}" type="pres">
      <dgm:prSet presAssocID="{DE07ABE2-F0B0-46D3-8A3F-99317EF3DFFE}" presName="spaceBetweenRectangles" presStyleCnt="0"/>
      <dgm:spPr/>
    </dgm:pt>
    <dgm:pt modelId="{A4D854E4-2F46-4C18-AD9E-60518B8895C7}" type="pres">
      <dgm:prSet presAssocID="{AC3719A3-D1C8-4D26-BF05-81A0DE1BAAFE}" presName="parentLin" presStyleCnt="0"/>
      <dgm:spPr/>
    </dgm:pt>
    <dgm:pt modelId="{7304EC8A-5576-46DF-8998-368467F96AB5}" type="pres">
      <dgm:prSet presAssocID="{AC3719A3-D1C8-4D26-BF05-81A0DE1BAAFE}" presName="parentLeftMargin" presStyleLbl="node1" presStyleIdx="1" presStyleCnt="5"/>
      <dgm:spPr/>
      <dgm:t>
        <a:bodyPr/>
        <a:lstStyle/>
        <a:p>
          <a:endParaRPr lang="en-US"/>
        </a:p>
      </dgm:t>
    </dgm:pt>
    <dgm:pt modelId="{A40B5B68-A510-48AE-98A5-1E9367288F39}" type="pres">
      <dgm:prSet presAssocID="{AC3719A3-D1C8-4D26-BF05-81A0DE1BAAFE}" presName="parentText" presStyleLbl="node1" presStyleIdx="2" presStyleCnt="5">
        <dgm:presLayoutVars>
          <dgm:chMax val="0"/>
          <dgm:bulletEnabled val="1"/>
        </dgm:presLayoutVars>
      </dgm:prSet>
      <dgm:spPr/>
      <dgm:t>
        <a:bodyPr/>
        <a:lstStyle/>
        <a:p>
          <a:endParaRPr lang="en-US"/>
        </a:p>
      </dgm:t>
    </dgm:pt>
    <dgm:pt modelId="{F31CE757-1ED8-49FA-8A48-F99C00DCDB9C}" type="pres">
      <dgm:prSet presAssocID="{AC3719A3-D1C8-4D26-BF05-81A0DE1BAAFE}" presName="negativeSpace" presStyleCnt="0"/>
      <dgm:spPr/>
    </dgm:pt>
    <dgm:pt modelId="{E9E28B05-984D-4BB3-A1AE-8194712BA716}" type="pres">
      <dgm:prSet presAssocID="{AC3719A3-D1C8-4D26-BF05-81A0DE1BAAFE}" presName="childText" presStyleLbl="conFgAcc1" presStyleIdx="2" presStyleCnt="5">
        <dgm:presLayoutVars>
          <dgm:bulletEnabled val="1"/>
        </dgm:presLayoutVars>
      </dgm:prSet>
      <dgm:spPr/>
      <dgm:t>
        <a:bodyPr/>
        <a:lstStyle/>
        <a:p>
          <a:endParaRPr lang="en-US"/>
        </a:p>
      </dgm:t>
    </dgm:pt>
    <dgm:pt modelId="{713130C2-76E1-480E-BFE5-BD2C1AE0B3AC}" type="pres">
      <dgm:prSet presAssocID="{FA7A6C4A-1E3B-4EC2-B96D-5E961566059F}" presName="spaceBetweenRectangles" presStyleCnt="0"/>
      <dgm:spPr/>
    </dgm:pt>
    <dgm:pt modelId="{62820DBE-9E9A-4D52-ABA3-2A9F9C7B9A6B}" type="pres">
      <dgm:prSet presAssocID="{4820D7E0-95BA-43F8-A174-9C337A60F15C}" presName="parentLin" presStyleCnt="0"/>
      <dgm:spPr/>
    </dgm:pt>
    <dgm:pt modelId="{2F0C24DF-6AA2-4E53-8DB4-ECBF7A512339}" type="pres">
      <dgm:prSet presAssocID="{4820D7E0-95BA-43F8-A174-9C337A60F15C}" presName="parentLeftMargin" presStyleLbl="node1" presStyleIdx="2" presStyleCnt="5"/>
      <dgm:spPr/>
      <dgm:t>
        <a:bodyPr/>
        <a:lstStyle/>
        <a:p>
          <a:endParaRPr lang="en-US"/>
        </a:p>
      </dgm:t>
    </dgm:pt>
    <dgm:pt modelId="{57D2B6D3-1A76-47C0-AA4A-FED1C616A8A8}" type="pres">
      <dgm:prSet presAssocID="{4820D7E0-95BA-43F8-A174-9C337A60F15C}" presName="parentText" presStyleLbl="node1" presStyleIdx="3" presStyleCnt="5">
        <dgm:presLayoutVars>
          <dgm:chMax val="0"/>
          <dgm:bulletEnabled val="1"/>
        </dgm:presLayoutVars>
      </dgm:prSet>
      <dgm:spPr/>
      <dgm:t>
        <a:bodyPr/>
        <a:lstStyle/>
        <a:p>
          <a:endParaRPr lang="en-US"/>
        </a:p>
      </dgm:t>
    </dgm:pt>
    <dgm:pt modelId="{1FFE1168-4A53-4CEB-8E8C-B040DE5F0E71}" type="pres">
      <dgm:prSet presAssocID="{4820D7E0-95BA-43F8-A174-9C337A60F15C}" presName="negativeSpace" presStyleCnt="0"/>
      <dgm:spPr/>
    </dgm:pt>
    <dgm:pt modelId="{E0720720-C3F1-434D-8DF3-F738342AE944}" type="pres">
      <dgm:prSet presAssocID="{4820D7E0-95BA-43F8-A174-9C337A60F15C}" presName="childText" presStyleLbl="conFgAcc1" presStyleIdx="3" presStyleCnt="5">
        <dgm:presLayoutVars>
          <dgm:bulletEnabled val="1"/>
        </dgm:presLayoutVars>
      </dgm:prSet>
      <dgm:spPr/>
      <dgm:t>
        <a:bodyPr/>
        <a:lstStyle/>
        <a:p>
          <a:endParaRPr lang="en-US"/>
        </a:p>
      </dgm:t>
    </dgm:pt>
    <dgm:pt modelId="{CDE52295-6E82-4773-ADBA-F7B5E4F4F125}" type="pres">
      <dgm:prSet presAssocID="{53393FA1-5D4F-4C06-BB38-309A0A70D159}" presName="spaceBetweenRectangles" presStyleCnt="0"/>
      <dgm:spPr/>
    </dgm:pt>
    <dgm:pt modelId="{BB904FBC-6B6E-498E-B3F7-A2D02BBE0EB8}" type="pres">
      <dgm:prSet presAssocID="{82B3A020-E1D0-482F-B244-D9836C430533}" presName="parentLin" presStyleCnt="0"/>
      <dgm:spPr/>
    </dgm:pt>
    <dgm:pt modelId="{7EAAE818-3117-420F-B621-853C1A2929CC}" type="pres">
      <dgm:prSet presAssocID="{82B3A020-E1D0-482F-B244-D9836C430533}" presName="parentLeftMargin" presStyleLbl="node1" presStyleIdx="3" presStyleCnt="5"/>
      <dgm:spPr/>
      <dgm:t>
        <a:bodyPr/>
        <a:lstStyle/>
        <a:p>
          <a:endParaRPr lang="en-US"/>
        </a:p>
      </dgm:t>
    </dgm:pt>
    <dgm:pt modelId="{5DDF2B1E-0C68-46D3-9BB2-C3E0A98ACFF4}" type="pres">
      <dgm:prSet presAssocID="{82B3A020-E1D0-482F-B244-D9836C430533}" presName="parentText" presStyleLbl="node1" presStyleIdx="4" presStyleCnt="5">
        <dgm:presLayoutVars>
          <dgm:chMax val="0"/>
          <dgm:bulletEnabled val="1"/>
        </dgm:presLayoutVars>
      </dgm:prSet>
      <dgm:spPr/>
      <dgm:t>
        <a:bodyPr/>
        <a:lstStyle/>
        <a:p>
          <a:endParaRPr lang="en-US"/>
        </a:p>
      </dgm:t>
    </dgm:pt>
    <dgm:pt modelId="{C02541EC-A46D-4CA5-939F-BC43B901F760}" type="pres">
      <dgm:prSet presAssocID="{82B3A020-E1D0-482F-B244-D9836C430533}" presName="negativeSpace" presStyleCnt="0"/>
      <dgm:spPr/>
    </dgm:pt>
    <dgm:pt modelId="{78745E9A-E0A5-4D54-BB1C-0F7AE301A9EE}" type="pres">
      <dgm:prSet presAssocID="{82B3A020-E1D0-482F-B244-D9836C430533}" presName="childText" presStyleLbl="conFgAcc1" presStyleIdx="4" presStyleCnt="5">
        <dgm:presLayoutVars>
          <dgm:bulletEnabled val="1"/>
        </dgm:presLayoutVars>
      </dgm:prSet>
      <dgm:spPr/>
    </dgm:pt>
  </dgm:ptLst>
  <dgm:cxnLst>
    <dgm:cxn modelId="{12898478-695C-43E1-9D10-C5670483F579}" srcId="{06FC7733-8FA5-41D4-AECB-6D822B8BE7DF}" destId="{82B3A020-E1D0-482F-B244-D9836C430533}" srcOrd="4" destOrd="0" parTransId="{DF0A0517-2685-42C6-86B8-4D60DED0F08F}" sibTransId="{A6F45FA4-62B2-4EBB-85B6-7FB5C140ACCD}"/>
    <dgm:cxn modelId="{AB7D604A-FCB3-44A9-A3B6-AF08486F4054}" type="presOf" srcId="{48A05A57-CF3F-49E6-976C-2E117D3E73BC}" destId="{E9E28B05-984D-4BB3-A1AE-8194712BA716}" srcOrd="0" destOrd="1" presId="urn:microsoft.com/office/officeart/2005/8/layout/list1"/>
    <dgm:cxn modelId="{EFF5D220-8F3C-44DB-9CAD-80DC8F5BD1EC}" srcId="{06FC7733-8FA5-41D4-AECB-6D822B8BE7DF}" destId="{0D060172-E377-4D3F-ACE8-96F9E7CBEE31}" srcOrd="0" destOrd="0" parTransId="{69D4FD4D-062D-4820-97F9-C1B498049B52}" sibTransId="{386BBD97-8415-4663-95C5-5A46310ADA72}"/>
    <dgm:cxn modelId="{653439D9-0B9B-4F30-90C2-88E85B7C9C44}" type="presOf" srcId="{F3179F68-0DDD-4389-9718-DC1E8789D01D}" destId="{EFD2C556-B087-4513-B521-3FCBEC610BD4}" srcOrd="0" destOrd="0" presId="urn:microsoft.com/office/officeart/2005/8/layout/list1"/>
    <dgm:cxn modelId="{25641CD2-3CAF-4DEE-88EC-7EA4AA003AC5}" type="presOf" srcId="{4820D7E0-95BA-43F8-A174-9C337A60F15C}" destId="{57D2B6D3-1A76-47C0-AA4A-FED1C616A8A8}" srcOrd="1" destOrd="0" presId="urn:microsoft.com/office/officeart/2005/8/layout/list1"/>
    <dgm:cxn modelId="{C268476A-D7D9-4DEC-982F-1E51133B5041}" type="presOf" srcId="{4820D7E0-95BA-43F8-A174-9C337A60F15C}" destId="{2F0C24DF-6AA2-4E53-8DB4-ECBF7A512339}" srcOrd="0" destOrd="0" presId="urn:microsoft.com/office/officeart/2005/8/layout/list1"/>
    <dgm:cxn modelId="{98892C80-BB36-428A-866A-2268AC71C78E}" type="presOf" srcId="{AC3719A3-D1C8-4D26-BF05-81A0DE1BAAFE}" destId="{7304EC8A-5576-46DF-8998-368467F96AB5}" srcOrd="0" destOrd="0" presId="urn:microsoft.com/office/officeart/2005/8/layout/list1"/>
    <dgm:cxn modelId="{8026B723-9239-4B1F-9D5C-981EBC801A18}" type="presOf" srcId="{AC3719A3-D1C8-4D26-BF05-81A0DE1BAAFE}" destId="{A40B5B68-A510-48AE-98A5-1E9367288F39}" srcOrd="1" destOrd="0" presId="urn:microsoft.com/office/officeart/2005/8/layout/list1"/>
    <dgm:cxn modelId="{C86D7F71-3833-4468-82A8-8FEEF58C15C2}" srcId="{AC3719A3-D1C8-4D26-BF05-81A0DE1BAAFE}" destId="{48A05A57-CF3F-49E6-976C-2E117D3E73BC}" srcOrd="1" destOrd="0" parTransId="{E4A8F704-28F1-48D0-99F8-575E83AB865B}" sibTransId="{208D1402-6D42-4243-B97E-A4426023B57E}"/>
    <dgm:cxn modelId="{C3423987-1181-4868-B70A-285946D4D89F}" type="presOf" srcId="{82B3A020-E1D0-482F-B244-D9836C430533}" destId="{5DDF2B1E-0C68-46D3-9BB2-C3E0A98ACFF4}" srcOrd="1" destOrd="0" presId="urn:microsoft.com/office/officeart/2005/8/layout/list1"/>
    <dgm:cxn modelId="{58FE5948-672B-4AB7-A3A0-9F86CAB0F66F}" type="presOf" srcId="{F3179F68-0DDD-4389-9718-DC1E8789D01D}" destId="{4BE00DA4-5F15-4114-BE1D-396D0EE6B587}" srcOrd="1" destOrd="0" presId="urn:microsoft.com/office/officeart/2005/8/layout/list1"/>
    <dgm:cxn modelId="{7963FC87-6981-4179-AAD4-452F54E4CDAB}" srcId="{06FC7733-8FA5-41D4-AECB-6D822B8BE7DF}" destId="{AC3719A3-D1C8-4D26-BF05-81A0DE1BAAFE}" srcOrd="2" destOrd="0" parTransId="{A1E76C3D-B100-499F-A39A-A3ADBE6AC60C}" sibTransId="{FA7A6C4A-1E3B-4EC2-B96D-5E961566059F}"/>
    <dgm:cxn modelId="{6DA7F507-3450-477C-AAC4-3572FD17F2C7}" type="presOf" srcId="{06B9A30D-87D5-492A-9F3F-E1845B4B8C90}" destId="{E0720720-C3F1-434D-8DF3-F738342AE944}" srcOrd="0" destOrd="0" presId="urn:microsoft.com/office/officeart/2005/8/layout/list1"/>
    <dgm:cxn modelId="{F500082E-A1D3-4A78-95EF-4471B429F532}" srcId="{06FC7733-8FA5-41D4-AECB-6D822B8BE7DF}" destId="{4820D7E0-95BA-43F8-A174-9C337A60F15C}" srcOrd="3" destOrd="0" parTransId="{BE83663B-D1D9-41E5-B4BB-9C47E56125CE}" sibTransId="{53393FA1-5D4F-4C06-BB38-309A0A70D159}"/>
    <dgm:cxn modelId="{4190E9A9-FABA-4DAE-805D-E7E3237A5156}" type="presOf" srcId="{06FC7733-8FA5-41D4-AECB-6D822B8BE7DF}" destId="{7265CF90-FB77-40DE-86CE-413029C42949}" srcOrd="0" destOrd="0" presId="urn:microsoft.com/office/officeart/2005/8/layout/list1"/>
    <dgm:cxn modelId="{CD84212E-28DA-4665-B600-42D5CA40BFAE}" type="presOf" srcId="{B28B808C-2F80-4E14-9CBD-4C7CFF920B6D}" destId="{E9E28B05-984D-4BB3-A1AE-8194712BA716}" srcOrd="0" destOrd="0" presId="urn:microsoft.com/office/officeart/2005/8/layout/list1"/>
    <dgm:cxn modelId="{6AD09B1F-66CE-4485-AB55-2A522B13CB30}" type="presOf" srcId="{0D060172-E377-4D3F-ACE8-96F9E7CBEE31}" destId="{5E7FD00D-73E3-49F7-B7CB-BF5B3A44C848}" srcOrd="1" destOrd="0" presId="urn:microsoft.com/office/officeart/2005/8/layout/list1"/>
    <dgm:cxn modelId="{53EA1BC0-F7BB-4000-BE04-7666098B7065}" srcId="{06FC7733-8FA5-41D4-AECB-6D822B8BE7DF}" destId="{F3179F68-0DDD-4389-9718-DC1E8789D01D}" srcOrd="1" destOrd="0" parTransId="{90C61DA8-E4CD-4B1E-BF2E-A9D6F9FF7C36}" sibTransId="{DE07ABE2-F0B0-46D3-8A3F-99317EF3DFFE}"/>
    <dgm:cxn modelId="{ED3BE16A-7ACF-4ECB-AAB3-480B5B139F05}" type="presOf" srcId="{0D060172-E377-4D3F-ACE8-96F9E7CBEE31}" destId="{728189E9-FBC8-4BE4-912B-404043B456A6}" srcOrd="0" destOrd="0" presId="urn:microsoft.com/office/officeart/2005/8/layout/list1"/>
    <dgm:cxn modelId="{17F92F4D-B7C3-4A61-A30D-CA55EF480401}" type="presOf" srcId="{82B3A020-E1D0-482F-B244-D9836C430533}" destId="{7EAAE818-3117-420F-B621-853C1A2929CC}" srcOrd="0" destOrd="0" presId="urn:microsoft.com/office/officeart/2005/8/layout/list1"/>
    <dgm:cxn modelId="{C800554A-372F-4C67-A1E2-5CEF95AC8ACD}" srcId="{4820D7E0-95BA-43F8-A174-9C337A60F15C}" destId="{06B9A30D-87D5-492A-9F3F-E1845B4B8C90}" srcOrd="0" destOrd="0" parTransId="{17236E56-6CDE-4E31-9E4E-41CBBE459542}" sibTransId="{91DBF845-9DF2-4E9D-B2E4-23C9AE4CF6E0}"/>
    <dgm:cxn modelId="{1341BB68-FCF1-4B20-842A-4F779FBB7153}" srcId="{AC3719A3-D1C8-4D26-BF05-81A0DE1BAAFE}" destId="{B28B808C-2F80-4E14-9CBD-4C7CFF920B6D}" srcOrd="0" destOrd="0" parTransId="{03C4CD80-D173-48BF-B20F-3EA285148EFE}" sibTransId="{311D89C8-9D60-4758-BC01-50D1CA73FDD5}"/>
    <dgm:cxn modelId="{B644E2F6-29BC-45FA-AB83-7BC6DA59D3E7}" type="presParOf" srcId="{7265CF90-FB77-40DE-86CE-413029C42949}" destId="{1CAA8CF6-F800-4473-95B7-FA3B8E29E71B}" srcOrd="0" destOrd="0" presId="urn:microsoft.com/office/officeart/2005/8/layout/list1"/>
    <dgm:cxn modelId="{46D82BF9-32B5-4C61-8B31-4FFD7AD395B2}" type="presParOf" srcId="{1CAA8CF6-F800-4473-95B7-FA3B8E29E71B}" destId="{728189E9-FBC8-4BE4-912B-404043B456A6}" srcOrd="0" destOrd="0" presId="urn:microsoft.com/office/officeart/2005/8/layout/list1"/>
    <dgm:cxn modelId="{A9CDD7D4-6223-42BB-9B19-EC175F8D3E23}" type="presParOf" srcId="{1CAA8CF6-F800-4473-95B7-FA3B8E29E71B}" destId="{5E7FD00D-73E3-49F7-B7CB-BF5B3A44C848}" srcOrd="1" destOrd="0" presId="urn:microsoft.com/office/officeart/2005/8/layout/list1"/>
    <dgm:cxn modelId="{FCF101F5-A3E5-46C3-9C92-DBE567769789}" type="presParOf" srcId="{7265CF90-FB77-40DE-86CE-413029C42949}" destId="{287ABC02-1DFC-42E6-995B-6A8ED57B1A94}" srcOrd="1" destOrd="0" presId="urn:microsoft.com/office/officeart/2005/8/layout/list1"/>
    <dgm:cxn modelId="{EC33B5D7-EFD3-455E-A8AC-F413BDC6B352}" type="presParOf" srcId="{7265CF90-FB77-40DE-86CE-413029C42949}" destId="{51A46A30-056F-455E-8B23-31BBCDC4D1FC}" srcOrd="2" destOrd="0" presId="urn:microsoft.com/office/officeart/2005/8/layout/list1"/>
    <dgm:cxn modelId="{B032E4CE-C9BD-4521-A6B1-7556838B1135}" type="presParOf" srcId="{7265CF90-FB77-40DE-86CE-413029C42949}" destId="{D7680A8E-AD1C-4542-9AA2-49281AF08D93}" srcOrd="3" destOrd="0" presId="urn:microsoft.com/office/officeart/2005/8/layout/list1"/>
    <dgm:cxn modelId="{B17980E2-3C3C-4571-83B2-BE221A19DE7D}" type="presParOf" srcId="{7265CF90-FB77-40DE-86CE-413029C42949}" destId="{5EB3B5B1-26D7-4F15-AE03-6E189C8553AE}" srcOrd="4" destOrd="0" presId="urn:microsoft.com/office/officeart/2005/8/layout/list1"/>
    <dgm:cxn modelId="{5FF095F1-AE0D-4101-81AD-91FB1A8FFE6E}" type="presParOf" srcId="{5EB3B5B1-26D7-4F15-AE03-6E189C8553AE}" destId="{EFD2C556-B087-4513-B521-3FCBEC610BD4}" srcOrd="0" destOrd="0" presId="urn:microsoft.com/office/officeart/2005/8/layout/list1"/>
    <dgm:cxn modelId="{F13F9FD2-D551-44D0-866C-F7ECAB783C93}" type="presParOf" srcId="{5EB3B5B1-26D7-4F15-AE03-6E189C8553AE}" destId="{4BE00DA4-5F15-4114-BE1D-396D0EE6B587}" srcOrd="1" destOrd="0" presId="urn:microsoft.com/office/officeart/2005/8/layout/list1"/>
    <dgm:cxn modelId="{72C67E71-A9A9-49D5-A114-AC5E23FCAF42}" type="presParOf" srcId="{7265CF90-FB77-40DE-86CE-413029C42949}" destId="{E613D9E4-DF5D-402E-A2B7-B7BB3DC8D87A}" srcOrd="5" destOrd="0" presId="urn:microsoft.com/office/officeart/2005/8/layout/list1"/>
    <dgm:cxn modelId="{59ED0B61-D464-4192-B114-6F19539CA2FB}" type="presParOf" srcId="{7265CF90-FB77-40DE-86CE-413029C42949}" destId="{9F0708F1-2BB2-4331-9906-3BFAE16E84E9}" srcOrd="6" destOrd="0" presId="urn:microsoft.com/office/officeart/2005/8/layout/list1"/>
    <dgm:cxn modelId="{22AFEB10-E473-4DEF-A603-2FF8C8EA3CC7}" type="presParOf" srcId="{7265CF90-FB77-40DE-86CE-413029C42949}" destId="{3B03F1BA-A2A7-44D7-A1AB-19FE4FF91B2D}" srcOrd="7" destOrd="0" presId="urn:microsoft.com/office/officeart/2005/8/layout/list1"/>
    <dgm:cxn modelId="{54F0AB97-B708-441F-B92D-7647CC19A52D}" type="presParOf" srcId="{7265CF90-FB77-40DE-86CE-413029C42949}" destId="{A4D854E4-2F46-4C18-AD9E-60518B8895C7}" srcOrd="8" destOrd="0" presId="urn:microsoft.com/office/officeart/2005/8/layout/list1"/>
    <dgm:cxn modelId="{826789D3-D51C-4656-BECE-44D87B5F70AF}" type="presParOf" srcId="{A4D854E4-2F46-4C18-AD9E-60518B8895C7}" destId="{7304EC8A-5576-46DF-8998-368467F96AB5}" srcOrd="0" destOrd="0" presId="urn:microsoft.com/office/officeart/2005/8/layout/list1"/>
    <dgm:cxn modelId="{17F87559-E9F2-4ECD-A4EE-77F11C4A80CB}" type="presParOf" srcId="{A4D854E4-2F46-4C18-AD9E-60518B8895C7}" destId="{A40B5B68-A510-48AE-98A5-1E9367288F39}" srcOrd="1" destOrd="0" presId="urn:microsoft.com/office/officeart/2005/8/layout/list1"/>
    <dgm:cxn modelId="{EA1DD4C9-E29F-44F9-AC6C-DD41F42A304F}" type="presParOf" srcId="{7265CF90-FB77-40DE-86CE-413029C42949}" destId="{F31CE757-1ED8-49FA-8A48-F99C00DCDB9C}" srcOrd="9" destOrd="0" presId="urn:microsoft.com/office/officeart/2005/8/layout/list1"/>
    <dgm:cxn modelId="{E9DDE3C3-F888-456D-8F9C-795EE8D43C16}" type="presParOf" srcId="{7265CF90-FB77-40DE-86CE-413029C42949}" destId="{E9E28B05-984D-4BB3-A1AE-8194712BA716}" srcOrd="10" destOrd="0" presId="urn:microsoft.com/office/officeart/2005/8/layout/list1"/>
    <dgm:cxn modelId="{CC3D8FEA-A1FD-4AE1-9C01-6296424607B1}" type="presParOf" srcId="{7265CF90-FB77-40DE-86CE-413029C42949}" destId="{713130C2-76E1-480E-BFE5-BD2C1AE0B3AC}" srcOrd="11" destOrd="0" presId="urn:microsoft.com/office/officeart/2005/8/layout/list1"/>
    <dgm:cxn modelId="{9BCD3460-FE95-466E-8CBB-3860424252F0}" type="presParOf" srcId="{7265CF90-FB77-40DE-86CE-413029C42949}" destId="{62820DBE-9E9A-4D52-ABA3-2A9F9C7B9A6B}" srcOrd="12" destOrd="0" presId="urn:microsoft.com/office/officeart/2005/8/layout/list1"/>
    <dgm:cxn modelId="{828E7CC8-592B-4731-A8F2-939FF28D3E6A}" type="presParOf" srcId="{62820DBE-9E9A-4D52-ABA3-2A9F9C7B9A6B}" destId="{2F0C24DF-6AA2-4E53-8DB4-ECBF7A512339}" srcOrd="0" destOrd="0" presId="urn:microsoft.com/office/officeart/2005/8/layout/list1"/>
    <dgm:cxn modelId="{A3F03743-8BD3-4EA3-9DD9-8769F907F15A}" type="presParOf" srcId="{62820DBE-9E9A-4D52-ABA3-2A9F9C7B9A6B}" destId="{57D2B6D3-1A76-47C0-AA4A-FED1C616A8A8}" srcOrd="1" destOrd="0" presId="urn:microsoft.com/office/officeart/2005/8/layout/list1"/>
    <dgm:cxn modelId="{6AE15358-B9FB-4616-841F-9C51386459AC}" type="presParOf" srcId="{7265CF90-FB77-40DE-86CE-413029C42949}" destId="{1FFE1168-4A53-4CEB-8E8C-B040DE5F0E71}" srcOrd="13" destOrd="0" presId="urn:microsoft.com/office/officeart/2005/8/layout/list1"/>
    <dgm:cxn modelId="{B65D1D8D-8773-485F-BF94-A2429519FD68}" type="presParOf" srcId="{7265CF90-FB77-40DE-86CE-413029C42949}" destId="{E0720720-C3F1-434D-8DF3-F738342AE944}" srcOrd="14" destOrd="0" presId="urn:microsoft.com/office/officeart/2005/8/layout/list1"/>
    <dgm:cxn modelId="{21D9DA13-4300-497A-AF41-CBC4B15CD169}" type="presParOf" srcId="{7265CF90-FB77-40DE-86CE-413029C42949}" destId="{CDE52295-6E82-4773-ADBA-F7B5E4F4F125}" srcOrd="15" destOrd="0" presId="urn:microsoft.com/office/officeart/2005/8/layout/list1"/>
    <dgm:cxn modelId="{B541A749-0D49-42E7-9410-D5660D9416D8}" type="presParOf" srcId="{7265CF90-FB77-40DE-86CE-413029C42949}" destId="{BB904FBC-6B6E-498E-B3F7-A2D02BBE0EB8}" srcOrd="16" destOrd="0" presId="urn:microsoft.com/office/officeart/2005/8/layout/list1"/>
    <dgm:cxn modelId="{373CF203-892F-4B72-B6CB-29F9A3550EA9}" type="presParOf" srcId="{BB904FBC-6B6E-498E-B3F7-A2D02BBE0EB8}" destId="{7EAAE818-3117-420F-B621-853C1A2929CC}" srcOrd="0" destOrd="0" presId="urn:microsoft.com/office/officeart/2005/8/layout/list1"/>
    <dgm:cxn modelId="{4D65F9CB-9B54-439C-91A3-26FB1093B009}" type="presParOf" srcId="{BB904FBC-6B6E-498E-B3F7-A2D02BBE0EB8}" destId="{5DDF2B1E-0C68-46D3-9BB2-C3E0A98ACFF4}" srcOrd="1" destOrd="0" presId="urn:microsoft.com/office/officeart/2005/8/layout/list1"/>
    <dgm:cxn modelId="{C057228A-4049-4D46-93AF-36141D136AC5}" type="presParOf" srcId="{7265CF90-FB77-40DE-86CE-413029C42949}" destId="{C02541EC-A46D-4CA5-939F-BC43B901F760}" srcOrd="17" destOrd="0" presId="urn:microsoft.com/office/officeart/2005/8/layout/list1"/>
    <dgm:cxn modelId="{9DACB8A0-CFA5-407A-86EE-F28DEC6CBF90}" type="presParOf" srcId="{7265CF90-FB77-40DE-86CE-413029C42949}" destId="{78745E9A-E0A5-4D54-BB1C-0F7AE301A9EE}"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A46A30-056F-455E-8B23-31BBCDC4D1FC}">
      <dsp:nvSpPr>
        <dsp:cNvPr id="0" name=""/>
        <dsp:cNvSpPr/>
      </dsp:nvSpPr>
      <dsp:spPr>
        <a:xfrm>
          <a:off x="0" y="378583"/>
          <a:ext cx="5987143" cy="453600"/>
        </a:xfrm>
        <a:prstGeom prst="rect">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E7FD00D-73E3-49F7-B7CB-BF5B3A44C848}">
      <dsp:nvSpPr>
        <dsp:cNvPr id="0" name=""/>
        <dsp:cNvSpPr/>
      </dsp:nvSpPr>
      <dsp:spPr>
        <a:xfrm>
          <a:off x="327212" y="112903"/>
          <a:ext cx="4191000" cy="53136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410" tIns="0" rIns="158410" bIns="0" numCol="1" spcCol="1270" anchor="ctr" anchorCtr="0">
          <a:noAutofit/>
        </a:bodyPr>
        <a:lstStyle/>
        <a:p>
          <a:pPr lvl="0" algn="l" defTabSz="800100">
            <a:lnSpc>
              <a:spcPct val="90000"/>
            </a:lnSpc>
            <a:spcBef>
              <a:spcPct val="0"/>
            </a:spcBef>
            <a:spcAft>
              <a:spcPct val="35000"/>
            </a:spcAft>
          </a:pPr>
          <a:r>
            <a:rPr lang="en-US" sz="1800" kern="1200" dirty="0" smtClean="0"/>
            <a:t>Data </a:t>
          </a:r>
          <a:r>
            <a:rPr lang="en-US" sz="1800" kern="1200" dirty="0"/>
            <a:t>Collection</a:t>
          </a:r>
        </a:p>
      </dsp:txBody>
      <dsp:txXfrm>
        <a:off x="353151" y="138842"/>
        <a:ext cx="4139122" cy="479482"/>
      </dsp:txXfrm>
    </dsp:sp>
    <dsp:sp modelId="{9F0708F1-2BB2-4331-9906-3BFAE16E84E9}">
      <dsp:nvSpPr>
        <dsp:cNvPr id="0" name=""/>
        <dsp:cNvSpPr/>
      </dsp:nvSpPr>
      <dsp:spPr>
        <a:xfrm>
          <a:off x="0" y="1195063"/>
          <a:ext cx="5987143" cy="453600"/>
        </a:xfrm>
        <a:prstGeom prst="rect">
          <a:avLst/>
        </a:prstGeom>
        <a:solidFill>
          <a:schemeClr val="lt1">
            <a:alpha val="90000"/>
            <a:hueOff val="0"/>
            <a:satOff val="0"/>
            <a:lumOff val="0"/>
            <a:alphaOff val="0"/>
          </a:schemeClr>
        </a:solidFill>
        <a:ln w="25400" cap="flat" cmpd="sng" algn="ctr">
          <a:solidFill>
            <a:schemeClr val="accent4">
              <a:hueOff val="-1116192"/>
              <a:satOff val="6725"/>
              <a:lumOff val="539"/>
              <a:alphaOff val="0"/>
            </a:schemeClr>
          </a:solidFill>
          <a:prstDash val="solid"/>
        </a:ln>
        <a:effectLst/>
      </dsp:spPr>
      <dsp:style>
        <a:lnRef idx="2">
          <a:scrgbClr r="0" g="0" b="0"/>
        </a:lnRef>
        <a:fillRef idx="1">
          <a:scrgbClr r="0" g="0" b="0"/>
        </a:fillRef>
        <a:effectRef idx="0">
          <a:scrgbClr r="0" g="0" b="0"/>
        </a:effectRef>
        <a:fontRef idx="minor"/>
      </dsp:style>
    </dsp:sp>
    <dsp:sp modelId="{4BE00DA4-5F15-4114-BE1D-396D0EE6B587}">
      <dsp:nvSpPr>
        <dsp:cNvPr id="0" name=""/>
        <dsp:cNvSpPr/>
      </dsp:nvSpPr>
      <dsp:spPr>
        <a:xfrm>
          <a:off x="299357" y="929383"/>
          <a:ext cx="4191000" cy="531360"/>
        </a:xfrm>
        <a:prstGeom prst="roundRect">
          <a:avLst/>
        </a:prstGeom>
        <a:solidFill>
          <a:schemeClr val="accent4">
            <a:hueOff val="-1116192"/>
            <a:satOff val="6725"/>
            <a:lumOff val="53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410" tIns="0" rIns="158410" bIns="0" numCol="1" spcCol="1270" anchor="ctr" anchorCtr="0">
          <a:noAutofit/>
        </a:bodyPr>
        <a:lstStyle/>
        <a:p>
          <a:pPr lvl="0" algn="l" defTabSz="800100" rtl="0">
            <a:lnSpc>
              <a:spcPct val="90000"/>
            </a:lnSpc>
            <a:spcBef>
              <a:spcPct val="0"/>
            </a:spcBef>
            <a:spcAft>
              <a:spcPct val="35000"/>
            </a:spcAft>
          </a:pPr>
          <a:r>
            <a:rPr lang="en-US" sz="1800" kern="1200" dirty="0">
              <a:latin typeface="Calibri"/>
            </a:rPr>
            <a:t>Data Preprocessing</a:t>
          </a:r>
          <a:endParaRPr lang="en-US" sz="1800" kern="1200" dirty="0"/>
        </a:p>
      </dsp:txBody>
      <dsp:txXfrm>
        <a:off x="325296" y="955322"/>
        <a:ext cx="4139122" cy="479482"/>
      </dsp:txXfrm>
    </dsp:sp>
    <dsp:sp modelId="{E9E28B05-984D-4BB3-A1AE-8194712BA716}">
      <dsp:nvSpPr>
        <dsp:cNvPr id="0" name=""/>
        <dsp:cNvSpPr/>
      </dsp:nvSpPr>
      <dsp:spPr>
        <a:xfrm>
          <a:off x="0" y="2011543"/>
          <a:ext cx="5987143" cy="1048950"/>
        </a:xfrm>
        <a:prstGeom prst="rect">
          <a:avLst/>
        </a:prstGeom>
        <a:solidFill>
          <a:schemeClr val="lt1">
            <a:alpha val="90000"/>
            <a:hueOff val="0"/>
            <a:satOff val="0"/>
            <a:lumOff val="0"/>
            <a:alphaOff val="0"/>
          </a:schemeClr>
        </a:solidFill>
        <a:ln w="25400" cap="flat" cmpd="sng" algn="ctr">
          <a:solidFill>
            <a:schemeClr val="accent4">
              <a:hueOff val="-2232385"/>
              <a:satOff val="13449"/>
              <a:lumOff val="107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64669" tIns="374904" rIns="464669"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smtClean="0">
              <a:latin typeface="Calibri"/>
            </a:rPr>
            <a:t>MobileNetV2, ResNet50, EfficientNet</a:t>
          </a:r>
          <a:endParaRPr lang="en-US" sz="1800" kern="1200" dirty="0">
            <a:latin typeface="Calibri"/>
          </a:endParaRPr>
        </a:p>
        <a:p>
          <a:pPr marL="171450" lvl="1" indent="-171450" algn="l" defTabSz="800100">
            <a:lnSpc>
              <a:spcPct val="90000"/>
            </a:lnSpc>
            <a:spcBef>
              <a:spcPct val="0"/>
            </a:spcBef>
            <a:spcAft>
              <a:spcPct val="15000"/>
            </a:spcAft>
            <a:buChar char="••"/>
          </a:pPr>
          <a:r>
            <a:rPr lang="en-US" sz="1800" kern="1200" dirty="0" smtClean="0">
              <a:latin typeface="Calibri"/>
            </a:rPr>
            <a:t>YOLOv3</a:t>
          </a:r>
          <a:endParaRPr lang="en-US" sz="1800" kern="1200" dirty="0">
            <a:latin typeface="Calibri"/>
          </a:endParaRPr>
        </a:p>
      </dsp:txBody>
      <dsp:txXfrm>
        <a:off x="0" y="2011543"/>
        <a:ext cx="5987143" cy="1048950"/>
      </dsp:txXfrm>
    </dsp:sp>
    <dsp:sp modelId="{A40B5B68-A510-48AE-98A5-1E9367288F39}">
      <dsp:nvSpPr>
        <dsp:cNvPr id="0" name=""/>
        <dsp:cNvSpPr/>
      </dsp:nvSpPr>
      <dsp:spPr>
        <a:xfrm>
          <a:off x="299357" y="1745863"/>
          <a:ext cx="4191000" cy="531360"/>
        </a:xfrm>
        <a:prstGeom prst="roundRect">
          <a:avLst/>
        </a:prstGeom>
        <a:solidFill>
          <a:schemeClr val="accent4">
            <a:hueOff val="-2232385"/>
            <a:satOff val="13449"/>
            <a:lumOff val="107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410" tIns="0" rIns="158410" bIns="0" numCol="1" spcCol="1270" anchor="ctr" anchorCtr="0">
          <a:noAutofit/>
        </a:bodyPr>
        <a:lstStyle/>
        <a:p>
          <a:pPr lvl="0" algn="l" defTabSz="800100" rtl="0">
            <a:lnSpc>
              <a:spcPct val="90000"/>
            </a:lnSpc>
            <a:spcBef>
              <a:spcPct val="0"/>
            </a:spcBef>
            <a:spcAft>
              <a:spcPct val="35000"/>
            </a:spcAft>
          </a:pPr>
          <a:r>
            <a:rPr lang="en-US" sz="1800" kern="1200" dirty="0">
              <a:latin typeface="Calibri"/>
            </a:rPr>
            <a:t>Model Evaluation </a:t>
          </a:r>
        </a:p>
      </dsp:txBody>
      <dsp:txXfrm>
        <a:off x="325296" y="1771802"/>
        <a:ext cx="4139122" cy="479482"/>
      </dsp:txXfrm>
    </dsp:sp>
    <dsp:sp modelId="{E0720720-C3F1-434D-8DF3-F738342AE944}">
      <dsp:nvSpPr>
        <dsp:cNvPr id="0" name=""/>
        <dsp:cNvSpPr/>
      </dsp:nvSpPr>
      <dsp:spPr>
        <a:xfrm>
          <a:off x="0" y="3423373"/>
          <a:ext cx="5987143" cy="765450"/>
        </a:xfrm>
        <a:prstGeom prst="rect">
          <a:avLst/>
        </a:prstGeom>
        <a:solidFill>
          <a:schemeClr val="lt1">
            <a:alpha val="90000"/>
            <a:hueOff val="0"/>
            <a:satOff val="0"/>
            <a:lumOff val="0"/>
            <a:alphaOff val="0"/>
          </a:schemeClr>
        </a:solidFill>
        <a:ln w="25400" cap="flat" cmpd="sng" algn="ctr">
          <a:solidFill>
            <a:schemeClr val="accent4">
              <a:hueOff val="-3348577"/>
              <a:satOff val="20174"/>
              <a:lumOff val="161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64669" tIns="374904" rIns="464669"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smtClean="0"/>
            <a:t>Accuracy, Precision, Recall, F1-score,</a:t>
          </a:r>
          <a:endParaRPr lang="en-US" sz="1800" kern="1200" dirty="0"/>
        </a:p>
      </dsp:txBody>
      <dsp:txXfrm>
        <a:off x="0" y="3423373"/>
        <a:ext cx="5987143" cy="765450"/>
      </dsp:txXfrm>
    </dsp:sp>
    <dsp:sp modelId="{57D2B6D3-1A76-47C0-AA4A-FED1C616A8A8}">
      <dsp:nvSpPr>
        <dsp:cNvPr id="0" name=""/>
        <dsp:cNvSpPr/>
      </dsp:nvSpPr>
      <dsp:spPr>
        <a:xfrm>
          <a:off x="299357" y="3157693"/>
          <a:ext cx="4191000" cy="531360"/>
        </a:xfrm>
        <a:prstGeom prst="roundRect">
          <a:avLst/>
        </a:prstGeom>
        <a:solidFill>
          <a:schemeClr val="accent4">
            <a:hueOff val="-3348577"/>
            <a:satOff val="20174"/>
            <a:lumOff val="161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410" tIns="0" rIns="158410" bIns="0" numCol="1" spcCol="1270" anchor="ctr" anchorCtr="0">
          <a:noAutofit/>
        </a:bodyPr>
        <a:lstStyle/>
        <a:p>
          <a:pPr lvl="0" algn="l" defTabSz="800100">
            <a:lnSpc>
              <a:spcPct val="90000"/>
            </a:lnSpc>
            <a:spcBef>
              <a:spcPct val="0"/>
            </a:spcBef>
            <a:spcAft>
              <a:spcPct val="35000"/>
            </a:spcAft>
          </a:pPr>
          <a:r>
            <a:rPr lang="en-US" sz="1800" kern="1200" dirty="0" smtClean="0">
              <a:latin typeface="Calibri"/>
            </a:rPr>
            <a:t>Evaluation</a:t>
          </a:r>
        </a:p>
      </dsp:txBody>
      <dsp:txXfrm>
        <a:off x="325296" y="3183632"/>
        <a:ext cx="4139122" cy="479482"/>
      </dsp:txXfrm>
    </dsp:sp>
    <dsp:sp modelId="{78745E9A-E0A5-4D54-BB1C-0F7AE301A9EE}">
      <dsp:nvSpPr>
        <dsp:cNvPr id="0" name=""/>
        <dsp:cNvSpPr/>
      </dsp:nvSpPr>
      <dsp:spPr>
        <a:xfrm>
          <a:off x="0" y="4551703"/>
          <a:ext cx="5987143" cy="453600"/>
        </a:xfrm>
        <a:prstGeom prst="rect">
          <a:avLst/>
        </a:prstGeom>
        <a:solidFill>
          <a:schemeClr val="lt1">
            <a:alpha val="90000"/>
            <a:hueOff val="0"/>
            <a:satOff val="0"/>
            <a:lumOff val="0"/>
            <a:alphaOff val="0"/>
          </a:schemeClr>
        </a:solidFill>
        <a:ln w="25400" cap="flat" cmpd="sng" algn="ctr">
          <a:solidFill>
            <a:schemeClr val="accent4">
              <a:hueOff val="-4464770"/>
              <a:satOff val="26899"/>
              <a:lumOff val="2156"/>
              <a:alphaOff val="0"/>
            </a:schemeClr>
          </a:solidFill>
          <a:prstDash val="solid"/>
        </a:ln>
        <a:effectLst/>
      </dsp:spPr>
      <dsp:style>
        <a:lnRef idx="2">
          <a:scrgbClr r="0" g="0" b="0"/>
        </a:lnRef>
        <a:fillRef idx="1">
          <a:scrgbClr r="0" g="0" b="0"/>
        </a:fillRef>
        <a:effectRef idx="0">
          <a:scrgbClr r="0" g="0" b="0"/>
        </a:effectRef>
        <a:fontRef idx="minor"/>
      </dsp:style>
    </dsp:sp>
    <dsp:sp modelId="{5DDF2B1E-0C68-46D3-9BB2-C3E0A98ACFF4}">
      <dsp:nvSpPr>
        <dsp:cNvPr id="0" name=""/>
        <dsp:cNvSpPr/>
      </dsp:nvSpPr>
      <dsp:spPr>
        <a:xfrm>
          <a:off x="299357" y="4286023"/>
          <a:ext cx="4191000" cy="531360"/>
        </a:xfrm>
        <a:prstGeom prst="roundRect">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410" tIns="0" rIns="158410" bIns="0" numCol="1" spcCol="1270" anchor="ctr" anchorCtr="0">
          <a:noAutofit/>
        </a:bodyPr>
        <a:lstStyle/>
        <a:p>
          <a:pPr lvl="0" algn="l" defTabSz="800100">
            <a:lnSpc>
              <a:spcPct val="90000"/>
            </a:lnSpc>
            <a:spcBef>
              <a:spcPct val="0"/>
            </a:spcBef>
            <a:spcAft>
              <a:spcPct val="35000"/>
            </a:spcAft>
          </a:pPr>
          <a:r>
            <a:rPr lang="en-US" sz="1800" kern="1200" dirty="0" smtClean="0"/>
            <a:t>Result Generation</a:t>
          </a:r>
        </a:p>
      </dsp:txBody>
      <dsp:txXfrm>
        <a:off x="325296" y="4311962"/>
        <a:ext cx="4139122" cy="47948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0F2D6876-F133-46D3-95E2-A34AD9BDC8CB}" type="datetimeFigureOut">
              <a:rPr lang="en-US"/>
              <a:pPr>
                <a:defRPr/>
              </a:pPr>
              <a:t>1/6/2026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1DA40400-4F5E-4E00-9BB5-F457594CE77A}" type="slidenum">
              <a:rPr lang="en-US"/>
              <a:pPr>
                <a:defRPr/>
              </a:pPr>
              <a:t>‹#›</a:t>
            </a:fld>
            <a:endParaRPr lang="en-US"/>
          </a:p>
        </p:txBody>
      </p:sp>
    </p:spTree>
    <p:extLst>
      <p:ext uri="{BB962C8B-B14F-4D97-AF65-F5344CB8AC3E}">
        <p14:creationId xmlns:p14="http://schemas.microsoft.com/office/powerpoint/2010/main" val="31335642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1/6/2026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1/6/2026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1/6/2026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1/6/2026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875161A3-B757-4210-8554-6B2250A4A5D7}" type="datetime1">
              <a:rPr lang="en-US" smtClean="0"/>
              <a:pPr>
                <a:defRPr/>
              </a:pPr>
              <a:t>1/6/2026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875161A3-B757-4210-8554-6B2250A4A5D7}" type="datetime1">
              <a:rPr lang="en-US" smtClean="0"/>
              <a:pPr>
                <a:defRPr/>
              </a:pPr>
              <a:t>1/6/2026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875161A3-B757-4210-8554-6B2250A4A5D7}" type="datetime1">
              <a:rPr lang="en-US" smtClean="0"/>
              <a:pPr>
                <a:defRPr/>
              </a:pPr>
              <a:t>1/6/2026</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1/6/2026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1/6/2026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1/6/2026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1/6/2026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6" name="Rectangle 5"/>
          <p:cNvSpPr/>
          <p:nvPr/>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a:t>Click to edit Master title style</a:t>
            </a:r>
            <a:endParaRPr lang="en-US" dirty="0"/>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2"/>
          <p:cNvSpPr>
            <a:spLocks noGrp="1"/>
          </p:cNvSpPr>
          <p:nvPr>
            <p:ph type="dt" sz="half" idx="14"/>
          </p:nvPr>
        </p:nvSpPr>
        <p:spPr/>
        <p:txBody>
          <a:bodyPr/>
          <a:lstStyle>
            <a:lvl1pPr>
              <a:defRPr/>
            </a:lvl1pPr>
          </a:lstStyle>
          <a:p>
            <a:pPr>
              <a:defRPr/>
            </a:pPr>
            <a:fld id="{277AD9AE-DAF0-4070-950A-9E3660EBE497}" type="datetime1">
              <a:rPr lang="en-US" smtClean="0"/>
              <a:pPr>
                <a:defRPr/>
              </a:pPr>
              <a:t>1/6/2026</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smtClean="0"/>
              <a:pPr>
                <a:defRPr/>
              </a:pPr>
              <a:t>‹#›</a:t>
            </a:fld>
            <a:endParaRPr lang="en-US"/>
          </a:p>
        </p:txBody>
      </p:sp>
      <p:pic>
        <p:nvPicPr>
          <p:cNvPr id="11" name="Picture 1"/>
          <p:cNvPicPr>
            <a:picLocks noChangeAspect="1" noChangeArrowheads="1"/>
          </p:cNvPicPr>
          <p:nvPr userDrawn="1"/>
        </p:nvPicPr>
        <p:blipFill>
          <a:blip r:embed="rId2"/>
          <a:srcRect/>
          <a:stretch>
            <a:fillRect/>
          </a:stretch>
        </p:blipFill>
        <p:spPr bwMode="auto">
          <a:xfrm>
            <a:off x="609600" y="6356351"/>
            <a:ext cx="1538817" cy="471487"/>
          </a:xfrm>
          <a:prstGeom prst="rect">
            <a:avLst/>
          </a:prstGeom>
          <a:noFill/>
          <a:ln w="9525">
            <a:noFill/>
            <a:miter lim="800000"/>
            <a:headEnd/>
            <a:tailEnd/>
          </a:ln>
        </p:spPr>
      </p:pic>
      <p:sp>
        <p:nvSpPr>
          <p:cNvPr id="12" name="Rectangle 11"/>
          <p:cNvSpPr/>
          <p:nvPr userDrawn="1"/>
        </p:nvSpPr>
        <p:spPr>
          <a:xfrm>
            <a:off x="2336801" y="6356351"/>
            <a:ext cx="9842500" cy="465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B.Sc. Pre-Defense</a:t>
            </a:r>
            <a:endParaRPr lang="en-US" b="1" dirty="0"/>
          </a:p>
        </p:txBody>
      </p:sp>
      <p:sp>
        <p:nvSpPr>
          <p:cNvPr id="13" name="Rectangle 12"/>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Tree>
    <p:extLst>
      <p:ext uri="{BB962C8B-B14F-4D97-AF65-F5344CB8AC3E}">
        <p14:creationId xmlns:p14="http://schemas.microsoft.com/office/powerpoint/2010/main" val="1320263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5" name="Rectangle 4"/>
          <p:cNvSpPr/>
          <p:nvPr userDrawn="1"/>
        </p:nvSpPr>
        <p:spPr>
          <a:xfrm>
            <a:off x="3759200" y="0"/>
            <a:ext cx="8432800" cy="6858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B.Sc. Pre-Defense</a:t>
            </a:r>
            <a:endParaRPr lang="en-US" b="1" dirty="0"/>
          </a:p>
        </p:txBody>
      </p:sp>
      <p:pic>
        <p:nvPicPr>
          <p:cNvPr id="6" name="Picture 1"/>
          <p:cNvPicPr>
            <a:picLocks noChangeAspect="1" noChangeArrowheads="1"/>
          </p:cNvPicPr>
          <p:nvPr userDrawn="1"/>
        </p:nvPicPr>
        <p:blipFill>
          <a:blip r:embed="rId2"/>
          <a:srcRect/>
          <a:stretch>
            <a:fillRect/>
          </a:stretch>
        </p:blipFill>
        <p:spPr bwMode="auto">
          <a:xfrm>
            <a:off x="146051" y="76200"/>
            <a:ext cx="2444749" cy="685800"/>
          </a:xfrm>
          <a:prstGeom prst="rect">
            <a:avLst/>
          </a:prstGeom>
          <a:noFill/>
          <a:ln w="9525">
            <a:noFill/>
            <a:miter lim="800000"/>
            <a:headEnd/>
            <a:tailEnd/>
          </a:ln>
        </p:spPr>
      </p:pic>
      <p:sp>
        <p:nvSpPr>
          <p:cNvPr id="7" name="Rectangle 6"/>
          <p:cNvSpPr/>
          <p:nvPr userDrawn="1"/>
        </p:nvSpPr>
        <p:spPr>
          <a:xfrm>
            <a:off x="3555999" y="3271960"/>
            <a:ext cx="5080000" cy="533400"/>
          </a:xfrm>
          <a:prstGeom prst="rect">
            <a:avLst/>
          </a:prstGeom>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r>
              <a:rPr lang="en-US" sz="2400" b="1" dirty="0"/>
              <a:t>Presented by</a:t>
            </a:r>
          </a:p>
        </p:txBody>
      </p:sp>
      <p:sp>
        <p:nvSpPr>
          <p:cNvPr id="2" name="Title 1"/>
          <p:cNvSpPr>
            <a:spLocks noGrp="1"/>
          </p:cNvSpPr>
          <p:nvPr>
            <p:ph type="ctrTitle"/>
          </p:nvPr>
        </p:nvSpPr>
        <p:spPr>
          <a:xfrm>
            <a:off x="914400" y="1143000"/>
            <a:ext cx="10363200" cy="1752600"/>
          </a:xfrm>
        </p:spPr>
        <p:txBody>
          <a:bodyPr/>
          <a:lstStyle>
            <a:lvl1pPr>
              <a:defRPr b="1">
                <a:solidFill>
                  <a:schemeClr val="tx2">
                    <a:lumMod val="75000"/>
                  </a:schemeClr>
                </a:solidFill>
                <a:effectLst>
                  <a:outerShdw blurRad="38100" dist="38100" dir="2700000" algn="tl">
                    <a:srgbClr val="000000">
                      <a:alpha val="43137"/>
                    </a:srgbClr>
                  </a:outerShdw>
                </a:effectLst>
                <a:latin typeface="+mj-lt"/>
                <a:cs typeface="Times New Roman"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3102707" y="3959471"/>
            <a:ext cx="5986585" cy="2209800"/>
          </a:xfrm>
        </p:spPr>
        <p:txBody>
          <a:bodyPr>
            <a:normAutofit/>
          </a:bodyPr>
          <a:lstStyle>
            <a:lvl1pPr marL="0" indent="0" algn="ctr">
              <a:buNone/>
              <a:defRPr sz="2700">
                <a:solidFill>
                  <a:schemeClr val="accent1">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Date Placeholder 3"/>
          <p:cNvSpPr>
            <a:spLocks noGrp="1"/>
          </p:cNvSpPr>
          <p:nvPr>
            <p:ph type="dt" sz="half" idx="14"/>
          </p:nvPr>
        </p:nvSpPr>
        <p:spPr/>
        <p:txBody>
          <a:bodyPr/>
          <a:lstStyle>
            <a:lvl1pPr>
              <a:defRPr/>
            </a:lvl1pPr>
          </a:lstStyle>
          <a:p>
            <a:pPr>
              <a:defRPr/>
            </a:pPr>
            <a:fld id="{BCC254C3-6D07-4044-A98A-C7B9FCC216AA}" type="datetime1">
              <a:rPr lang="en-US"/>
              <a:pPr>
                <a:defRPr/>
              </a:pPr>
              <a:t>1/6/2026</a:t>
            </a:fld>
            <a:endParaRPr lang="en-US"/>
          </a:p>
        </p:txBody>
      </p:sp>
      <p:sp>
        <p:nvSpPr>
          <p:cNvPr id="10" name="Footer Placeholder 4"/>
          <p:cNvSpPr>
            <a:spLocks noGrp="1"/>
          </p:cNvSpPr>
          <p:nvPr>
            <p:ph type="ftr" sz="quarter" idx="15"/>
          </p:nvPr>
        </p:nvSpPr>
        <p:spPr/>
        <p:txBody>
          <a:bodyPr/>
          <a:lstStyle>
            <a:lvl1pPr>
              <a:defRPr/>
            </a:lvl1pPr>
          </a:lstStyle>
          <a:p>
            <a:pPr>
              <a:defRPr/>
            </a:pPr>
            <a:endParaRPr lang="en-US"/>
          </a:p>
        </p:txBody>
      </p:sp>
      <p:sp>
        <p:nvSpPr>
          <p:cNvPr id="11" name="Slide Number Placeholder 5"/>
          <p:cNvSpPr>
            <a:spLocks noGrp="1"/>
          </p:cNvSpPr>
          <p:nvPr>
            <p:ph type="sldNum" sz="quarter" idx="16"/>
          </p:nvPr>
        </p:nvSpPr>
        <p:spPr/>
        <p:txBody>
          <a:bodyPr/>
          <a:lstStyle>
            <a:lvl1pPr>
              <a:defRPr/>
            </a:lvl1pPr>
          </a:lstStyle>
          <a:p>
            <a:pPr>
              <a:defRPr/>
            </a:pPr>
            <a:fld id="{E62AF6E4-9F0F-4D32-8D8E-755B2E69BAD2}"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4" name="Picture 1"/>
          <p:cNvPicPr>
            <a:picLocks noChangeAspect="1" noChangeArrowheads="1"/>
          </p:cNvPicPr>
          <p:nvPr userDrawn="1"/>
        </p:nvPicPr>
        <p:blipFill>
          <a:blip r:embed="rId2"/>
          <a:srcRect/>
          <a:stretch>
            <a:fillRect/>
          </a:stretch>
        </p:blipFill>
        <p:spPr bwMode="auto">
          <a:xfrm>
            <a:off x="304801" y="5943600"/>
            <a:ext cx="1538817" cy="304800"/>
          </a:xfrm>
          <a:prstGeom prst="rect">
            <a:avLst/>
          </a:prstGeom>
          <a:noFill/>
          <a:ln w="9525">
            <a:noFill/>
            <a:miter lim="800000"/>
            <a:headEnd/>
            <a:tailEnd/>
          </a:ln>
        </p:spPr>
      </p:pic>
      <p:sp>
        <p:nvSpPr>
          <p:cNvPr id="5" name="Rectangle 4"/>
          <p:cNvSpPr/>
          <p:nvPr userDrawn="1"/>
        </p:nvSpPr>
        <p:spPr>
          <a:xfrm>
            <a:off x="2336801" y="5943600"/>
            <a:ext cx="98425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Final Year Defense</a:t>
            </a:r>
            <a:endParaRPr lang="en-US" b="1" dirty="0"/>
          </a:p>
        </p:txBody>
      </p:sp>
      <p:sp>
        <p:nvSpPr>
          <p:cNvPr id="6" name="Rectangle 5"/>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dirty="0"/>
              <a:t>Click to edit Master title style</a:t>
            </a:r>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2"/>
          <p:cNvSpPr>
            <a:spLocks noGrp="1"/>
          </p:cNvSpPr>
          <p:nvPr>
            <p:ph type="dt" sz="half" idx="14"/>
          </p:nvPr>
        </p:nvSpPr>
        <p:spPr/>
        <p:txBody>
          <a:bodyPr/>
          <a:lstStyle>
            <a:lvl1pPr>
              <a:defRPr/>
            </a:lvl1pPr>
          </a:lstStyle>
          <a:p>
            <a:pPr>
              <a:defRPr/>
            </a:pPr>
            <a:fld id="{277AD9AE-DAF0-4070-950A-9E3660EBE497}" type="datetime1">
              <a:rPr lang="en-US"/>
              <a:pPr>
                <a:defRPr/>
              </a:pPr>
              <a:t>1/6/2026</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875161A3-B757-4210-8554-6B2250A4A5D7}" type="datetime1">
              <a:rPr lang="en-US" smtClean="0"/>
              <a:pPr>
                <a:defRPr/>
              </a:pPr>
              <a:t>1/6/2026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201EAB7-4B8F-4B70-B0ED-2782ACD77B02}"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58" r:id="rId14"/>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7.jpg"/><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12.xml"/><Relationship Id="rId5" Type="http://schemas.openxmlformats.org/officeDocument/2006/relationships/image" Target="../media/image14.jpg"/><Relationship Id="rId4" Type="http://schemas.openxmlformats.org/officeDocument/2006/relationships/image" Target="../media/image13.jp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914400" y="1295400"/>
            <a:ext cx="10363200" cy="1752600"/>
          </a:xfrm>
        </p:spPr>
        <p:txBody>
          <a:bodyPr rtlCol="0">
            <a:normAutofit/>
          </a:bodyPr>
          <a:lstStyle/>
          <a:p>
            <a:r>
              <a:rPr lang="en-US" sz="5400" dirty="0">
                <a:solidFill>
                  <a:srgbClr val="7030A0"/>
                </a:solidFill>
                <a:latin typeface="Times New Roman" panose="02020603050405020304" pitchFamily="18" charset="0"/>
              </a:rPr>
              <a:t>Waste Classification System Using Machine Learning </a:t>
            </a:r>
            <a:endParaRPr lang="en-US" dirty="0">
              <a:solidFill>
                <a:srgbClr val="7030A0"/>
              </a:solidFill>
              <a:effectLst/>
              <a:latin typeface="Times New Roman" panose="02020603050405020304" pitchFamily="18" charset="0"/>
            </a:endParaRPr>
          </a:p>
        </p:txBody>
      </p:sp>
      <p:sp>
        <p:nvSpPr>
          <p:cNvPr id="5" name="Subtitle 4"/>
          <p:cNvSpPr>
            <a:spLocks noGrp="1"/>
          </p:cNvSpPr>
          <p:nvPr>
            <p:ph type="subTitle" idx="1"/>
          </p:nvPr>
        </p:nvSpPr>
        <p:spPr>
          <a:xfrm>
            <a:off x="3695700" y="3973399"/>
            <a:ext cx="4800600" cy="2438400"/>
          </a:xfrm>
        </p:spPr>
        <p:txBody>
          <a:bodyPr rtlCol="0">
            <a:normAutofit lnSpcReduction="10000"/>
          </a:bodyPr>
          <a:lstStyle/>
          <a:p>
            <a:pPr lvl="0"/>
            <a:r>
              <a:rPr lang="en-US" sz="2200" b="1" dirty="0" err="1">
                <a:solidFill>
                  <a:prstClr val="black"/>
                </a:solidFill>
                <a:latin typeface="Times New Roman"/>
                <a:cs typeface="Times New Roman"/>
              </a:rPr>
              <a:t>Md</a:t>
            </a:r>
            <a:r>
              <a:rPr lang="en-US" sz="2200" b="1" dirty="0">
                <a:solidFill>
                  <a:prstClr val="black"/>
                </a:solidFill>
                <a:latin typeface="Times New Roman"/>
                <a:cs typeface="Times New Roman"/>
              </a:rPr>
              <a:t> Arif Billah</a:t>
            </a:r>
            <a:endParaRPr lang="en-US" sz="2200" dirty="0">
              <a:solidFill>
                <a:prstClr val="black"/>
              </a:solidFill>
              <a:ea typeface="Calibri"/>
              <a:cs typeface="Calibri"/>
            </a:endParaRPr>
          </a:p>
          <a:p>
            <a:pPr lvl="0"/>
            <a:r>
              <a:rPr lang="en-US" sz="2200" b="1" dirty="0">
                <a:solidFill>
                  <a:prstClr val="black"/>
                </a:solidFill>
                <a:latin typeface="Times New Roman"/>
                <a:cs typeface="Times New Roman"/>
              </a:rPr>
              <a:t>ID : </a:t>
            </a:r>
            <a:r>
              <a:rPr lang="en-US" sz="2200" dirty="0">
                <a:solidFill>
                  <a:prstClr val="black"/>
                </a:solidFill>
                <a:latin typeface="Times New Roman"/>
                <a:cs typeface="Times New Roman"/>
              </a:rPr>
              <a:t>221-15-5842</a:t>
            </a:r>
            <a:endParaRPr lang="en-US" sz="2200" dirty="0">
              <a:solidFill>
                <a:prstClr val="black"/>
              </a:solidFill>
              <a:ea typeface="Calibri"/>
              <a:cs typeface="Calibri"/>
            </a:endParaRPr>
          </a:p>
          <a:p>
            <a:pPr lvl="0"/>
            <a:r>
              <a:rPr lang="en-US" sz="1200" dirty="0">
                <a:solidFill>
                  <a:prstClr val="black"/>
                </a:solidFill>
                <a:latin typeface="Times New Roman"/>
                <a:cs typeface="Times New Roman"/>
              </a:rPr>
              <a:t>&amp;</a:t>
            </a:r>
            <a:endParaRPr lang="en-US" sz="1200" dirty="0">
              <a:solidFill>
                <a:prstClr val="black"/>
              </a:solidFill>
              <a:ea typeface="Calibri"/>
              <a:cs typeface="Calibri"/>
            </a:endParaRPr>
          </a:p>
          <a:p>
            <a:pPr lvl="0"/>
            <a:r>
              <a:rPr lang="en-US" sz="2200" b="1" dirty="0" err="1">
                <a:solidFill>
                  <a:prstClr val="black"/>
                </a:solidFill>
                <a:latin typeface="Times New Roman"/>
                <a:cs typeface="Times New Roman"/>
              </a:rPr>
              <a:t>Sifat</a:t>
            </a:r>
            <a:r>
              <a:rPr lang="en-US" sz="2200" b="1" dirty="0">
                <a:solidFill>
                  <a:prstClr val="black"/>
                </a:solidFill>
                <a:latin typeface="Times New Roman"/>
                <a:cs typeface="Times New Roman"/>
              </a:rPr>
              <a:t> Khan</a:t>
            </a:r>
            <a:endParaRPr lang="en-US" sz="2200" dirty="0">
              <a:solidFill>
                <a:prstClr val="black"/>
              </a:solidFill>
              <a:ea typeface="Calibri"/>
              <a:cs typeface="Calibri"/>
            </a:endParaRPr>
          </a:p>
          <a:p>
            <a:pPr lvl="0"/>
            <a:r>
              <a:rPr lang="en-US" sz="2200" b="1" dirty="0">
                <a:solidFill>
                  <a:prstClr val="black"/>
                </a:solidFill>
                <a:latin typeface="Times New Roman"/>
                <a:cs typeface="Times New Roman"/>
              </a:rPr>
              <a:t>ID :</a:t>
            </a:r>
            <a:r>
              <a:rPr lang="en-US" sz="2200" dirty="0">
                <a:solidFill>
                  <a:prstClr val="black"/>
                </a:solidFill>
                <a:latin typeface="Times New Roman"/>
                <a:cs typeface="Times New Roman"/>
              </a:rPr>
              <a:t> 221-15-5869</a:t>
            </a:r>
            <a:endParaRPr lang="en-US" sz="2200" dirty="0">
              <a:solidFill>
                <a:prstClr val="black"/>
              </a:solidFill>
            </a:endParaRPr>
          </a:p>
          <a:p>
            <a:pPr lvl="0"/>
            <a:r>
              <a:rPr lang="en-US" sz="2200" b="1" dirty="0">
                <a:solidFill>
                  <a:prstClr val="black"/>
                </a:solidFill>
                <a:latin typeface="Times New Roman" panose="02020603050405020304" pitchFamily="18" charset="0"/>
                <a:cs typeface="Times New Roman" panose="02020603050405020304" pitchFamily="18" charset="0"/>
              </a:rPr>
              <a:t>Department : </a:t>
            </a:r>
            <a:r>
              <a:rPr lang="en-US" sz="2200" dirty="0">
                <a:solidFill>
                  <a:prstClr val="black"/>
                </a:solidFill>
                <a:latin typeface="Times New Roman" panose="02020603050405020304" pitchFamily="18" charset="0"/>
                <a:cs typeface="Times New Roman" panose="02020603050405020304" pitchFamily="18" charset="0"/>
              </a:rPr>
              <a:t>CSE</a:t>
            </a:r>
          </a:p>
          <a:p>
            <a:pPr lvl="0"/>
            <a:r>
              <a:rPr lang="en-US" sz="2200" dirty="0">
                <a:solidFill>
                  <a:prstClr val="black"/>
                </a:solidFill>
                <a:latin typeface="Times New Roman" panose="02020603050405020304" pitchFamily="18" charset="0"/>
                <a:cs typeface="Times New Roman" panose="02020603050405020304" pitchFamily="18" charset="0"/>
              </a:rPr>
              <a:t>Daffodil International University</a:t>
            </a:r>
          </a:p>
          <a:p>
            <a:pPr>
              <a:defRPr/>
            </a:pPr>
            <a:endParaRPr lang="en-US" sz="2800" dirty="0">
              <a:solidFill>
                <a:schemeClr val="tx1"/>
              </a:solidFill>
              <a:latin typeface="Times New Roman" pitchFamily="18" charset="0"/>
              <a:cs typeface="Times New Roman" pitchFamily="18" charset="0"/>
            </a:endParaRPr>
          </a:p>
          <a:p>
            <a:pPr>
              <a:defRPr/>
            </a:pPr>
            <a:endParaRPr lang="en-US" dirty="0"/>
          </a:p>
        </p:txBody>
      </p:sp>
      <p:sp>
        <p:nvSpPr>
          <p:cNvPr id="2" name="TextBox 1">
            <a:extLst>
              <a:ext uri="{FF2B5EF4-FFF2-40B4-BE49-F238E27FC236}">
                <a16:creationId xmlns:a16="http://schemas.microsoft.com/office/drawing/2014/main" id="{46FC8551-41BC-7160-AB58-5A1854853554}"/>
              </a:ext>
            </a:extLst>
          </p:cNvPr>
          <p:cNvSpPr txBox="1"/>
          <p:nvPr/>
        </p:nvSpPr>
        <p:spPr>
          <a:xfrm>
            <a:off x="8906256" y="185335"/>
            <a:ext cx="3276600" cy="369332"/>
          </a:xfrm>
          <a:prstGeom prst="rect">
            <a:avLst/>
          </a:prstGeom>
          <a:solidFill>
            <a:srgbClr val="215968"/>
          </a:solidFill>
        </p:spPr>
        <p:txBody>
          <a:bodyPr wrap="square" rtlCol="0">
            <a:spAutoFit/>
          </a:bodyPr>
          <a:lstStyle/>
          <a:p>
            <a:pPr algn="r"/>
            <a:r>
              <a:rPr lang="en-US" b="1" dirty="0">
                <a:solidFill>
                  <a:schemeClr val="bg1"/>
                </a:solidFill>
              </a:rPr>
              <a:t>B.Sc. Final-Defense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Outline</a:t>
            </a:r>
            <a:endParaRPr lang="en-US" dirty="0">
              <a:solidFill>
                <a:srgbClr val="7030A0"/>
              </a:solidFill>
            </a:endParaRPr>
          </a:p>
        </p:txBody>
      </p:sp>
      <p:sp>
        <p:nvSpPr>
          <p:cNvPr id="3" name="Content Placeholder 2"/>
          <p:cNvSpPr>
            <a:spLocks noGrp="1"/>
          </p:cNvSpPr>
          <p:nvPr>
            <p:ph sz="quarter" idx="13"/>
          </p:nvPr>
        </p:nvSpPr>
        <p:spPr/>
        <p:txBody>
          <a:bodyPr>
            <a:normAutofit fontScale="92500" lnSpcReduction="20000"/>
          </a:bodyPr>
          <a:lstStyle/>
          <a:p>
            <a:pPr>
              <a:buFont typeface="Wingdings" pitchFamily="2" charset="2"/>
              <a:buChar char="Ø"/>
            </a:pPr>
            <a:r>
              <a:rPr lang="en-US" sz="2200" dirty="0" smtClean="0">
                <a:solidFill>
                  <a:schemeClr val="tx1"/>
                </a:solidFill>
                <a:latin typeface="Times New Roman" panose="02020603050405020304" pitchFamily="18" charset="0"/>
                <a:cs typeface="Times New Roman" panose="02020603050405020304" pitchFamily="18" charset="0"/>
              </a:rPr>
              <a:t>Introduction</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Research Question</a:t>
            </a:r>
            <a:endParaRPr lang="en-US" sz="2200" dirty="0">
              <a:solidFill>
                <a:schemeClr val="tx1"/>
              </a:solidFill>
              <a:latin typeface="Times New Roman" panose="02020603050405020304" pitchFamily="18" charset="0"/>
              <a:cs typeface="Times New Roman" panose="02020603050405020304" pitchFamily="18" charset="0"/>
            </a:endParaRP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Objective</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Background Study</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Gap Analysis</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Methodology</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Results &amp; Analysis</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Novelty of the Work</a:t>
            </a:r>
          </a:p>
          <a:p>
            <a:pPr>
              <a:buFont typeface="Wingdings" pitchFamily="2" charset="2"/>
              <a:buChar char="Ø"/>
            </a:pPr>
            <a:r>
              <a:rPr lang="en-US" sz="2200" dirty="0" smtClean="0">
                <a:solidFill>
                  <a:schemeClr val="tx1"/>
                </a:solidFill>
                <a:latin typeface="Times New Roman" panose="02020603050405020304" pitchFamily="18" charset="0"/>
                <a:cs typeface="Times New Roman" panose="02020603050405020304" pitchFamily="18" charset="0"/>
              </a:rPr>
              <a:t>Sample Dataset </a:t>
            </a:r>
          </a:p>
          <a:p>
            <a:pPr>
              <a:buFont typeface="Wingdings" pitchFamily="2" charset="2"/>
              <a:buChar char="Ø"/>
            </a:pPr>
            <a:r>
              <a:rPr lang="en-US" sz="2200" dirty="0" smtClean="0">
                <a:solidFill>
                  <a:schemeClr val="tx1"/>
                </a:solidFill>
                <a:latin typeface="Times New Roman" panose="02020603050405020304" pitchFamily="18" charset="0"/>
                <a:cs typeface="Times New Roman" panose="02020603050405020304" pitchFamily="18" charset="0"/>
              </a:rPr>
              <a:t>Web </a:t>
            </a:r>
            <a:r>
              <a:rPr lang="en-US" sz="2200" dirty="0">
                <a:solidFill>
                  <a:schemeClr val="tx1"/>
                </a:solidFill>
                <a:latin typeface="Times New Roman" panose="02020603050405020304" pitchFamily="18" charset="0"/>
                <a:cs typeface="Times New Roman" panose="02020603050405020304" pitchFamily="18" charset="0"/>
              </a:rPr>
              <a:t>Interface </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Conclusion</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References</a:t>
            </a:r>
          </a:p>
          <a:p>
            <a:pPr>
              <a:buNone/>
            </a:pPr>
            <a:endParaRPr lang="en-US" dirty="0"/>
          </a:p>
        </p:txBody>
      </p:sp>
      <p:sp>
        <p:nvSpPr>
          <p:cNvPr id="4" name="Slide Number Placeholder 3"/>
          <p:cNvSpPr>
            <a:spLocks noGrp="1"/>
          </p:cNvSpPr>
          <p:nvPr>
            <p:ph type="sldNum" sz="quarter" idx="16"/>
          </p:nvPr>
        </p:nvSpPr>
        <p:spPr>
          <a:xfrm>
            <a:off x="9296400" y="6188075"/>
            <a:ext cx="2844800" cy="365125"/>
          </a:xfrm>
        </p:spPr>
        <p:txBody>
          <a:bodyPr/>
          <a:lstStyle/>
          <a:p>
            <a:pPr>
              <a:defRPr/>
            </a:pPr>
            <a:fld id="{4CD333A3-7515-47B8-9EDC-EE0892D9C861}" type="slidenum">
              <a:rPr lang="en-US" smtClean="0"/>
              <a:pPr>
                <a:defRPr/>
              </a:pPr>
              <a:t>2</a:t>
            </a:fld>
            <a:endParaRPr lang="en-US"/>
          </a:p>
        </p:txBody>
      </p:sp>
      <p:sp>
        <p:nvSpPr>
          <p:cNvPr id="5" name="TextBox 4">
            <a:extLst>
              <a:ext uri="{FF2B5EF4-FFF2-40B4-BE49-F238E27FC236}">
                <a16:creationId xmlns:a16="http://schemas.microsoft.com/office/drawing/2014/main" id="{1174EFF0-3D03-C0F9-F0D4-A9D3482709F0}"/>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Introduction</a:t>
            </a:r>
            <a:endParaRPr lang="en-US" dirty="0">
              <a:solidFill>
                <a:srgbClr val="7030A0"/>
              </a:solidFill>
            </a:endParaRPr>
          </a:p>
        </p:txBody>
      </p:sp>
      <p:sp>
        <p:nvSpPr>
          <p:cNvPr id="4" name="Slide Number Placeholder 3"/>
          <p:cNvSpPr>
            <a:spLocks noGrp="1"/>
          </p:cNvSpPr>
          <p:nvPr>
            <p:ph type="sldNum" sz="quarter" idx="16"/>
          </p:nvPr>
        </p:nvSpPr>
        <p:spPr>
          <a:xfrm>
            <a:off x="9347200" y="6019800"/>
            <a:ext cx="2844800" cy="365125"/>
          </a:xfrm>
        </p:spPr>
        <p:txBody>
          <a:bodyPr/>
          <a:lstStyle/>
          <a:p>
            <a:pPr>
              <a:defRPr/>
            </a:pPr>
            <a:fld id="{4CD333A3-7515-47B8-9EDC-EE0892D9C861}" type="slidenum">
              <a:rPr lang="en-US" smtClean="0"/>
              <a:pPr>
                <a:defRPr/>
              </a:pPr>
              <a:t>3</a:t>
            </a:fld>
            <a:endParaRPr lang="en-US" dirty="0"/>
          </a:p>
        </p:txBody>
      </p:sp>
      <p:sp>
        <p:nvSpPr>
          <p:cNvPr id="5" name="TextBox 4">
            <a:extLst>
              <a:ext uri="{FF2B5EF4-FFF2-40B4-BE49-F238E27FC236}">
                <a16:creationId xmlns:a16="http://schemas.microsoft.com/office/drawing/2014/main" id="{301160C4-4E81-64AE-82AE-E159832FFEF8}"/>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3" name="TextBox 2">
            <a:extLst>
              <a:ext uri="{FF2B5EF4-FFF2-40B4-BE49-F238E27FC236}">
                <a16:creationId xmlns:a16="http://schemas.microsoft.com/office/drawing/2014/main" id="{38A3836E-8F2C-972B-F1A3-5B538D693CF3}"/>
              </a:ext>
            </a:extLst>
          </p:cNvPr>
          <p:cNvSpPr txBox="1"/>
          <p:nvPr/>
        </p:nvSpPr>
        <p:spPr>
          <a:xfrm>
            <a:off x="5204011" y="2528047"/>
            <a:ext cx="1828800" cy="1828800"/>
          </a:xfrm>
          <a:prstGeom prst="rect">
            <a:avLst/>
          </a:prstGeom>
          <a:noFill/>
        </p:spPr>
        <p:txBody>
          <a:bodyPr wrap="square" rtlCol="0">
            <a:spAutoFit/>
          </a:bodyPr>
          <a:lstStyle/>
          <a:p>
            <a:pPr algn="l"/>
            <a:endParaRPr lang="en-US" dirty="0"/>
          </a:p>
        </p:txBody>
      </p:sp>
      <p:sp>
        <p:nvSpPr>
          <p:cNvPr id="6" name="TextBox 5">
            <a:extLst>
              <a:ext uri="{FF2B5EF4-FFF2-40B4-BE49-F238E27FC236}">
                <a16:creationId xmlns:a16="http://schemas.microsoft.com/office/drawing/2014/main" id="{A66E58BB-E060-C81D-EDEA-4BBE6C55EE4F}"/>
              </a:ext>
            </a:extLst>
          </p:cNvPr>
          <p:cNvSpPr txBox="1"/>
          <p:nvPr/>
        </p:nvSpPr>
        <p:spPr>
          <a:xfrm>
            <a:off x="781210" y="1155807"/>
            <a:ext cx="5590135"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latin typeface="Times New Roman" panose="02020603050405020304" pitchFamily="18" charset="0"/>
                <a:cs typeface="Times New Roman" panose="02020603050405020304" pitchFamily="18" charset="0"/>
              </a:rPr>
              <a:t>Waste mismanagement is a major environmental issue that leads </a:t>
            </a:r>
            <a:r>
              <a:rPr lang="en-US" dirty="0" smtClean="0">
                <a:latin typeface="Times New Roman" panose="02020603050405020304" pitchFamily="18" charset="0"/>
                <a:cs typeface="Times New Roman" panose="02020603050405020304" pitchFamily="18" charset="0"/>
              </a:rPr>
              <a:t>to pollution</a:t>
            </a:r>
            <a:r>
              <a:rPr lang="en-US" dirty="0">
                <a:latin typeface="Times New Roman" panose="02020603050405020304" pitchFamily="18" charset="0"/>
                <a:cs typeface="Times New Roman" panose="02020603050405020304" pitchFamily="18" charset="0"/>
              </a:rPr>
              <a:t>, health hazards, and inefficient recycling. Manual waste sorting is slow, unsafe, and error-prone, creating a need for smart automated solutions. Machine Learning offers the ability to classify waste accurately using image-based deep learning techniques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5BD1DFB-AED2-FE52-79E1-61DCC8A693C6}"/>
              </a:ext>
            </a:extLst>
          </p:cNvPr>
          <p:cNvSpPr txBox="1"/>
          <p:nvPr/>
        </p:nvSpPr>
        <p:spPr>
          <a:xfrm>
            <a:off x="781209" y="3200400"/>
            <a:ext cx="5590135"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Wingdings" panose="05000000000000000000" pitchFamily="2" charset="2"/>
              <a:buChar char="Ø"/>
            </a:pPr>
            <a:r>
              <a:rPr lang="en-US" dirty="0">
                <a:latin typeface="Times New Roman"/>
                <a:cs typeface="Arial"/>
              </a:rPr>
              <a:t>Manual waste sorting is unsafe, time-consuming, and inconsistent</a:t>
            </a:r>
            <a:r>
              <a:rPr lang="en-US" dirty="0" smtClean="0">
                <a:latin typeface="Times New Roman"/>
                <a:cs typeface="Arial"/>
              </a:rPr>
              <a:t>.</a:t>
            </a:r>
          </a:p>
          <a:p>
            <a:pPr marL="285750" indent="-285750" algn="just">
              <a:buFont typeface="Wingdings" panose="05000000000000000000" pitchFamily="2" charset="2"/>
              <a:buChar char="Ø"/>
            </a:pPr>
            <a:r>
              <a:rPr lang="en-US" dirty="0" smtClean="0">
                <a:latin typeface="Times New Roman"/>
                <a:cs typeface="Arial"/>
              </a:rPr>
              <a:t>Deep </a:t>
            </a:r>
            <a:r>
              <a:rPr lang="en-US" dirty="0">
                <a:latin typeface="Times New Roman"/>
                <a:cs typeface="Arial"/>
              </a:rPr>
              <a:t>learning enables automatic identification of waste types from images</a:t>
            </a:r>
            <a:r>
              <a:rPr lang="en-US" dirty="0" smtClean="0">
                <a:latin typeface="Times New Roman"/>
                <a:cs typeface="Arial"/>
              </a:rPr>
              <a:t>.</a:t>
            </a:r>
          </a:p>
          <a:p>
            <a:pPr marL="285750" indent="-285750" algn="just">
              <a:buFont typeface="Wingdings" panose="05000000000000000000" pitchFamily="2" charset="2"/>
              <a:buChar char="Ø"/>
            </a:pPr>
            <a:r>
              <a:rPr lang="en-US" dirty="0" smtClean="0">
                <a:latin typeface="Times New Roman"/>
                <a:cs typeface="Arial"/>
              </a:rPr>
              <a:t>Models </a:t>
            </a:r>
            <a:r>
              <a:rPr lang="en-US" dirty="0">
                <a:latin typeface="Times New Roman"/>
                <a:cs typeface="Arial"/>
              </a:rPr>
              <a:t>like MobileNetV2, ResNet50, EfficientNet, and YOLOv3 improve accuracy and real-time detection</a:t>
            </a:r>
            <a:r>
              <a:rPr lang="en-US" dirty="0" smtClean="0">
                <a:latin typeface="Times New Roman"/>
                <a:cs typeface="Arial"/>
              </a:rPr>
              <a:t>.</a:t>
            </a:r>
          </a:p>
          <a:p>
            <a:pPr marL="285750" indent="-285750" algn="just">
              <a:buFont typeface="Wingdings" panose="05000000000000000000" pitchFamily="2" charset="2"/>
              <a:buChar char="Ø"/>
            </a:pPr>
            <a:r>
              <a:rPr lang="en-US" dirty="0" smtClean="0">
                <a:latin typeface="Times New Roman"/>
                <a:cs typeface="Arial"/>
              </a:rPr>
              <a:t>Automated </a:t>
            </a:r>
            <a:r>
              <a:rPr lang="en-US" dirty="0">
                <a:latin typeface="Times New Roman"/>
                <a:cs typeface="Arial"/>
              </a:rPr>
              <a:t>waste classification supports recycling, sustainability, and smart waste management.</a:t>
            </a:r>
            <a:endParaRPr lang="en-US" dirty="0" smtClean="0">
              <a:latin typeface="Times New Roman"/>
              <a:cs typeface="Arial"/>
            </a:endParaRPr>
          </a:p>
          <a:p>
            <a:pPr algn="ctr"/>
            <a:endParaRPr lang="en-US"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5600" y="1155807"/>
            <a:ext cx="5103347" cy="4891216"/>
          </a:xfrm>
          <a:prstGeom prst="rect">
            <a:avLst/>
          </a:prstGeom>
        </p:spPr>
      </p:pic>
    </p:spTree>
    <p:extLst>
      <p:ext uri="{BB962C8B-B14F-4D97-AF65-F5344CB8AC3E}">
        <p14:creationId xmlns:p14="http://schemas.microsoft.com/office/powerpoint/2010/main" val="1295605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7030A0"/>
                </a:solidFill>
                <a:latin typeface="Times New Roman" panose="02020603050405020304" pitchFamily="18" charset="0"/>
                <a:cs typeface="Times New Roman" panose="02020603050405020304" pitchFamily="18" charset="0"/>
              </a:rPr>
              <a:t>Research Question</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4</a:t>
            </a:fld>
            <a:endParaRPr lang="en-US"/>
          </a:p>
        </p:txBody>
      </p:sp>
      <p:sp>
        <p:nvSpPr>
          <p:cNvPr id="6" name="Rectangle 5"/>
          <p:cNvSpPr/>
          <p:nvPr/>
        </p:nvSpPr>
        <p:spPr>
          <a:xfrm>
            <a:off x="5956300" y="2409666"/>
            <a:ext cx="5562600" cy="1477328"/>
          </a:xfrm>
          <a:prstGeom prst="rect">
            <a:avLst/>
          </a:prstGeom>
        </p:spPr>
        <p:txBody>
          <a:bodyPr wrap="square">
            <a:spAutoFit/>
          </a:bodyPr>
          <a:lstStyle/>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How effectively can machine learning models classify waste into Plastic, Metal, Glass, and Polythene</a:t>
            </a:r>
            <a:r>
              <a:rPr lang="en-US"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How can AI-based classification contribute to sustainable waste management?</a:t>
            </a:r>
          </a:p>
        </p:txBody>
      </p:sp>
      <p:pic>
        <p:nvPicPr>
          <p:cNvPr id="7" name="Google Shape;162;p6"/>
          <p:cNvPicPr preferRelativeResize="0"/>
          <p:nvPr/>
        </p:nvPicPr>
        <p:blipFill rotWithShape="1">
          <a:blip r:embed="rId2">
            <a:alphaModFix/>
          </a:blip>
          <a:srcRect/>
          <a:stretch/>
        </p:blipFill>
        <p:spPr>
          <a:xfrm>
            <a:off x="762000" y="1371598"/>
            <a:ext cx="4572000" cy="4267201"/>
          </a:xfrm>
          <a:prstGeom prst="rect">
            <a:avLst/>
          </a:prstGeom>
          <a:noFill/>
          <a:ln>
            <a:noFill/>
          </a:ln>
        </p:spPr>
      </p:pic>
    </p:spTree>
    <p:extLst>
      <p:ext uri="{BB962C8B-B14F-4D97-AF65-F5344CB8AC3E}">
        <p14:creationId xmlns:p14="http://schemas.microsoft.com/office/powerpoint/2010/main" val="3155486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Objective</a:t>
            </a:r>
            <a:endParaRPr lang="en-US" dirty="0">
              <a:solidFill>
                <a:srgbClr val="7030A0"/>
              </a:solidFill>
            </a:endParaRPr>
          </a:p>
        </p:txBody>
      </p:sp>
      <p:sp>
        <p:nvSpPr>
          <p:cNvPr id="4" name="Slide Number Placeholder 3"/>
          <p:cNvSpPr>
            <a:spLocks noGrp="1"/>
          </p:cNvSpPr>
          <p:nvPr>
            <p:ph type="sldNum" sz="quarter" idx="16"/>
          </p:nvPr>
        </p:nvSpPr>
        <p:spPr>
          <a:xfrm>
            <a:off x="9350248" y="5989637"/>
            <a:ext cx="2844800" cy="365125"/>
          </a:xfrm>
        </p:spPr>
        <p:txBody>
          <a:bodyPr/>
          <a:lstStyle/>
          <a:p>
            <a:pPr>
              <a:defRPr/>
            </a:pPr>
            <a:fld id="{4CD333A3-7515-47B8-9EDC-EE0892D9C861}" type="slidenum">
              <a:rPr lang="en-US" smtClean="0"/>
              <a:pPr>
                <a:defRPr/>
              </a:pPr>
              <a:t>5</a:t>
            </a:fld>
            <a:endParaRPr lang="en-US" dirty="0"/>
          </a:p>
        </p:txBody>
      </p:sp>
      <p:sp>
        <p:nvSpPr>
          <p:cNvPr id="5" name="TextBox 4">
            <a:extLst>
              <a:ext uri="{FF2B5EF4-FFF2-40B4-BE49-F238E27FC236}">
                <a16:creationId xmlns:a16="http://schemas.microsoft.com/office/drawing/2014/main" id="{C7B064D8-8C59-7D9E-B404-8CE93061EC37}"/>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12" name="TextBox 11">
            <a:extLst>
              <a:ext uri="{FF2B5EF4-FFF2-40B4-BE49-F238E27FC236}">
                <a16:creationId xmlns:a16="http://schemas.microsoft.com/office/drawing/2014/main" id="{ECB9C7BF-EA38-7F8A-C0AD-CEAC92BE77B4}"/>
              </a:ext>
            </a:extLst>
          </p:cNvPr>
          <p:cNvSpPr txBox="1"/>
          <p:nvPr/>
        </p:nvSpPr>
        <p:spPr>
          <a:xfrm>
            <a:off x="5692588" y="1347908"/>
            <a:ext cx="5889812"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latin typeface="Times New Roman"/>
                <a:cs typeface="Arial"/>
              </a:rPr>
              <a:t>The objective of this project is to develop an intelligent waste classification system that automatically identifies different categories of waste using machine learning techniques. This system aims to support smart waste management by improving accuracy, efficiency, and sustainability..</a:t>
            </a:r>
            <a:endParaRPr lang="en-US" dirty="0"/>
          </a:p>
          <a:p>
            <a:pPr algn="just"/>
            <a:r>
              <a:rPr lang="en-US" b="1" dirty="0">
                <a:latin typeface="Times New Roman"/>
                <a:cs typeface="Arial"/>
              </a:rPr>
              <a:t>Specific Objectives</a:t>
            </a:r>
          </a:p>
          <a:p>
            <a:pPr marL="285750" indent="-285750" algn="just">
              <a:buFont typeface="Wingdings" panose="05000000000000000000" pitchFamily="2" charset="2"/>
              <a:buChar char="Ø"/>
            </a:pPr>
            <a:r>
              <a:rPr lang="en-US" dirty="0">
                <a:latin typeface="Times New Roman"/>
                <a:cs typeface="Arial"/>
              </a:rPr>
              <a:t>To design and develop an ML-based model capable of classifying waste images into predefined categories</a:t>
            </a:r>
            <a:r>
              <a:rPr lang="en-US" dirty="0" smtClean="0">
                <a:latin typeface="Times New Roman"/>
                <a:cs typeface="Arial"/>
              </a:rPr>
              <a:t>.</a:t>
            </a:r>
          </a:p>
          <a:p>
            <a:pPr marL="285750" indent="-285750" algn="just">
              <a:buFont typeface="Wingdings" panose="05000000000000000000" pitchFamily="2" charset="2"/>
              <a:buChar char="Ø"/>
            </a:pPr>
            <a:r>
              <a:rPr lang="en-US" dirty="0" smtClean="0">
                <a:latin typeface="Times New Roman"/>
                <a:cs typeface="Arial"/>
              </a:rPr>
              <a:t>To </a:t>
            </a:r>
            <a:r>
              <a:rPr lang="en-US" dirty="0">
                <a:latin typeface="Times New Roman"/>
                <a:cs typeface="Arial"/>
              </a:rPr>
              <a:t>build a structured dataset by collecting, preprocessing, and labeling waste images</a:t>
            </a:r>
            <a:r>
              <a:rPr lang="en-US" dirty="0" smtClean="0">
                <a:latin typeface="Times New Roman"/>
                <a:cs typeface="Arial"/>
              </a:rPr>
              <a:t>.</a:t>
            </a:r>
          </a:p>
          <a:p>
            <a:pPr marL="285750" indent="-285750" algn="just">
              <a:buFont typeface="Wingdings" panose="05000000000000000000" pitchFamily="2" charset="2"/>
              <a:buChar char="Ø"/>
            </a:pPr>
            <a:r>
              <a:rPr lang="en-US" dirty="0" smtClean="0">
                <a:latin typeface="Times New Roman"/>
                <a:cs typeface="Arial"/>
              </a:rPr>
              <a:t>To </a:t>
            </a:r>
            <a:r>
              <a:rPr lang="en-US" dirty="0">
                <a:latin typeface="Times New Roman"/>
                <a:cs typeface="Arial"/>
              </a:rPr>
              <a:t>evaluate the performance of different machine learning models and select the best-performing one</a:t>
            </a:r>
            <a:r>
              <a:rPr lang="en-US" dirty="0" smtClean="0">
                <a:latin typeface="Times New Roman"/>
                <a:cs typeface="Arial"/>
              </a:rPr>
              <a:t>.</a:t>
            </a:r>
          </a:p>
          <a:p>
            <a:pPr marL="285750" indent="-285750" algn="just">
              <a:buFont typeface="Wingdings" panose="05000000000000000000" pitchFamily="2" charset="2"/>
              <a:buChar char="Ø"/>
            </a:pPr>
            <a:r>
              <a:rPr lang="en-US" dirty="0" smtClean="0">
                <a:latin typeface="Times New Roman"/>
                <a:cs typeface="Arial"/>
              </a:rPr>
              <a:t>To </a:t>
            </a:r>
            <a:r>
              <a:rPr lang="en-US" dirty="0">
                <a:latin typeface="Times New Roman"/>
                <a:cs typeface="Arial"/>
              </a:rPr>
              <a:t>contribute to sustainable waste management by reducing manual effort and improving recycling efficiency.</a:t>
            </a:r>
          </a:p>
          <a:p>
            <a:pPr algn="ctr"/>
            <a:endParaRPr lang="en-US" dirty="0"/>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347908"/>
            <a:ext cx="5105400" cy="4748091"/>
          </a:xfrm>
          <a:prstGeom prst="rect">
            <a:avLst/>
          </a:prstGeom>
        </p:spPr>
      </p:pic>
    </p:spTree>
    <p:extLst>
      <p:ext uri="{BB962C8B-B14F-4D97-AF65-F5344CB8AC3E}">
        <p14:creationId xmlns:p14="http://schemas.microsoft.com/office/powerpoint/2010/main" val="825664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Background Study</a:t>
            </a:r>
            <a:endParaRPr lang="en-US" dirty="0">
              <a:solidFill>
                <a:srgbClr val="7030A0"/>
              </a:solidFill>
            </a:endParaRPr>
          </a:p>
        </p:txBody>
      </p:sp>
      <p:sp>
        <p:nvSpPr>
          <p:cNvPr id="4" name="Slide Number Placeholder 3"/>
          <p:cNvSpPr>
            <a:spLocks noGrp="1"/>
          </p:cNvSpPr>
          <p:nvPr>
            <p:ph type="sldNum" sz="quarter" idx="16"/>
          </p:nvPr>
        </p:nvSpPr>
        <p:spPr>
          <a:xfrm>
            <a:off x="9319768" y="5975351"/>
            <a:ext cx="2844800" cy="365125"/>
          </a:xfrm>
        </p:spPr>
        <p:txBody>
          <a:bodyPr/>
          <a:lstStyle/>
          <a:p>
            <a:pPr>
              <a:defRPr/>
            </a:pPr>
            <a:fld id="{4CD333A3-7515-47B8-9EDC-EE0892D9C861}" type="slidenum">
              <a:rPr lang="en-US" smtClean="0"/>
              <a:pPr>
                <a:defRPr/>
              </a:pPr>
              <a:t>6</a:t>
            </a:fld>
            <a:endParaRPr lang="en-US" dirty="0"/>
          </a:p>
        </p:txBody>
      </p:sp>
      <p:sp>
        <p:nvSpPr>
          <p:cNvPr id="6" name="TextBox 5">
            <a:extLst>
              <a:ext uri="{FF2B5EF4-FFF2-40B4-BE49-F238E27FC236}">
                <a16:creationId xmlns:a16="http://schemas.microsoft.com/office/drawing/2014/main" id="{63C18772-518C-E2F8-EBA7-247295C187B5}"/>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7" name="TextBox 6">
            <a:extLst>
              <a:ext uri="{FF2B5EF4-FFF2-40B4-BE49-F238E27FC236}">
                <a16:creationId xmlns:a16="http://schemas.microsoft.com/office/drawing/2014/main" id="{18B3BE97-D356-C113-E422-2BBF86F8E564}"/>
              </a:ext>
            </a:extLst>
          </p:cNvPr>
          <p:cNvSpPr txBox="1"/>
          <p:nvPr/>
        </p:nvSpPr>
        <p:spPr>
          <a:xfrm>
            <a:off x="1017785" y="1137583"/>
            <a:ext cx="5310401"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latin typeface="Times New Roman"/>
                <a:cs typeface="Arial"/>
              </a:rPr>
              <a:t>Waste classification plays a crucial role in modern waste management systems. Traditional manual sorting is slow, unsafe, and often inaccurate. With advancements in computer vision and deep learning, automated waste classification has become an effective solution for improving recycling efficiency and environmental sustainability</a:t>
            </a:r>
            <a:r>
              <a:rPr lang="en-US" dirty="0" smtClean="0">
                <a:latin typeface="Times New Roman"/>
                <a:cs typeface="Arial"/>
              </a:rPr>
              <a:t>.</a:t>
            </a:r>
          </a:p>
          <a:p>
            <a:pPr algn="just"/>
            <a:r>
              <a:rPr lang="en-US" b="1" dirty="0" smtClean="0">
                <a:latin typeface="Times New Roman"/>
                <a:cs typeface="Arial"/>
              </a:rPr>
              <a:t>Key Points</a:t>
            </a:r>
          </a:p>
          <a:p>
            <a:pPr marL="285750" indent="-285750" algn="just">
              <a:buFont typeface="Wingdings" panose="05000000000000000000" pitchFamily="2" charset="2"/>
              <a:buChar char="Ø"/>
            </a:pPr>
            <a:r>
              <a:rPr lang="en-US" dirty="0">
                <a:latin typeface="Times New Roman"/>
                <a:cs typeface="Arial"/>
              </a:rPr>
              <a:t>Deep Learning models such as CNNs are widely used for image classification tasks</a:t>
            </a:r>
            <a:r>
              <a:rPr lang="en-US" dirty="0" smtClean="0">
                <a:latin typeface="Times New Roman"/>
                <a:cs typeface="Arial"/>
              </a:rPr>
              <a:t>.</a:t>
            </a:r>
          </a:p>
          <a:p>
            <a:pPr marL="285750" indent="-285750" algn="just">
              <a:buFont typeface="Wingdings" panose="05000000000000000000" pitchFamily="2" charset="2"/>
              <a:buChar char="Ø"/>
            </a:pPr>
            <a:r>
              <a:rPr lang="en-US" dirty="0" smtClean="0">
                <a:latin typeface="Times New Roman"/>
                <a:cs typeface="Arial"/>
              </a:rPr>
              <a:t>Transfer </a:t>
            </a:r>
            <a:r>
              <a:rPr lang="en-US" dirty="0">
                <a:latin typeface="Times New Roman"/>
                <a:cs typeface="Arial"/>
              </a:rPr>
              <a:t>learning models (MobileNetV2, ResNet50, EfficientNet) provide high accuracy with reduced computation</a:t>
            </a:r>
            <a:r>
              <a:rPr lang="en-US" dirty="0" smtClean="0">
                <a:latin typeface="Times New Roman"/>
                <a:cs typeface="Arial"/>
              </a:rPr>
              <a:t>.</a:t>
            </a:r>
          </a:p>
          <a:p>
            <a:pPr marL="285750" indent="-285750" algn="just">
              <a:buFont typeface="Wingdings" panose="05000000000000000000" pitchFamily="2" charset="2"/>
              <a:buChar char="Ø"/>
            </a:pPr>
            <a:r>
              <a:rPr lang="en-US" dirty="0" smtClean="0">
                <a:latin typeface="Times New Roman"/>
                <a:cs typeface="Arial"/>
              </a:rPr>
              <a:t>YOLO-based </a:t>
            </a:r>
            <a:r>
              <a:rPr lang="en-US" dirty="0">
                <a:latin typeface="Times New Roman"/>
                <a:cs typeface="Arial"/>
              </a:rPr>
              <a:t>object detection supports real-time multi-waste detection in a single image</a:t>
            </a:r>
            <a:r>
              <a:rPr lang="en-US" dirty="0" smtClean="0">
                <a:latin typeface="Times New Roman"/>
                <a:cs typeface="Arial"/>
              </a:rPr>
              <a:t>.</a:t>
            </a:r>
          </a:p>
          <a:p>
            <a:pPr marL="285750" indent="-285750" algn="just">
              <a:buFont typeface="Wingdings" panose="05000000000000000000" pitchFamily="2" charset="2"/>
              <a:buChar char="Ø"/>
            </a:pPr>
            <a:r>
              <a:rPr lang="en-US" dirty="0" smtClean="0">
                <a:latin typeface="Times New Roman"/>
                <a:cs typeface="Arial"/>
              </a:rPr>
              <a:t>Automated </a:t>
            </a:r>
            <a:r>
              <a:rPr lang="en-US" dirty="0">
                <a:latin typeface="Times New Roman"/>
                <a:cs typeface="Arial"/>
              </a:rPr>
              <a:t>classification systems can significantly reduce human effort and environmental risks.</a:t>
            </a:r>
            <a:endParaRPr lang="en-US"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1800" y="1137583"/>
            <a:ext cx="4800600" cy="4724400"/>
          </a:xfrm>
          <a:prstGeom prst="rect">
            <a:avLst/>
          </a:prstGeom>
        </p:spPr>
      </p:pic>
    </p:spTree>
    <p:extLst>
      <p:ext uri="{BB962C8B-B14F-4D97-AF65-F5344CB8AC3E}">
        <p14:creationId xmlns:p14="http://schemas.microsoft.com/office/powerpoint/2010/main" val="3414697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Gap Analysis</a:t>
            </a:r>
            <a:endParaRPr lang="en-US" dirty="0">
              <a:solidFill>
                <a:srgbClr val="7030A0"/>
              </a:solidFill>
            </a:endParaRPr>
          </a:p>
        </p:txBody>
      </p:sp>
      <p:sp>
        <p:nvSpPr>
          <p:cNvPr id="4" name="Slide Number Placeholder 3"/>
          <p:cNvSpPr>
            <a:spLocks noGrp="1"/>
          </p:cNvSpPr>
          <p:nvPr>
            <p:ph type="sldNum" sz="quarter" idx="16"/>
          </p:nvPr>
        </p:nvSpPr>
        <p:spPr>
          <a:xfrm>
            <a:off x="9347200" y="5989639"/>
            <a:ext cx="2844800" cy="365125"/>
          </a:xfrm>
        </p:spPr>
        <p:txBody>
          <a:bodyPr/>
          <a:lstStyle/>
          <a:p>
            <a:pPr>
              <a:defRPr/>
            </a:pPr>
            <a:fld id="{4CD333A3-7515-47B8-9EDC-EE0892D9C861}" type="slidenum">
              <a:rPr lang="en-US" smtClean="0"/>
              <a:pPr>
                <a:defRPr/>
              </a:pPr>
              <a:t>7</a:t>
            </a:fld>
            <a:endParaRPr lang="en-US" dirty="0"/>
          </a:p>
        </p:txBody>
      </p:sp>
      <p:sp>
        <p:nvSpPr>
          <p:cNvPr id="3" name="TextBox 2">
            <a:extLst>
              <a:ext uri="{FF2B5EF4-FFF2-40B4-BE49-F238E27FC236}">
                <a16:creationId xmlns:a16="http://schemas.microsoft.com/office/drawing/2014/main" id="{30FF9886-9C18-37CA-D495-5A8528FD5C2A}"/>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6" name="TextBox 5">
            <a:extLst>
              <a:ext uri="{FF2B5EF4-FFF2-40B4-BE49-F238E27FC236}">
                <a16:creationId xmlns:a16="http://schemas.microsoft.com/office/drawing/2014/main" id="{9EE87DDF-D889-5015-CCA2-7EB396885AC6}"/>
              </a:ext>
            </a:extLst>
          </p:cNvPr>
          <p:cNvSpPr txBox="1"/>
          <p:nvPr/>
        </p:nvSpPr>
        <p:spPr>
          <a:xfrm>
            <a:off x="5868681" y="1572025"/>
            <a:ext cx="5715000"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dirty="0">
                <a:latin typeface="Times New Roman"/>
                <a:cs typeface="Arial"/>
              </a:rPr>
              <a:t>Existing systems mostly focus on single-object classification, not multi-object waste detection</a:t>
            </a:r>
            <a:r>
              <a:rPr lang="en-US" dirty="0" smtClean="0">
                <a:latin typeface="Times New Roman"/>
                <a:cs typeface="Arial"/>
              </a:rPr>
              <a:t>.</a:t>
            </a:r>
          </a:p>
          <a:p>
            <a:pPr marL="285750" indent="-285750">
              <a:buFont typeface="Wingdings"/>
              <a:buChar char="Ø"/>
            </a:pPr>
            <a:r>
              <a:rPr lang="en-US" dirty="0" smtClean="0">
                <a:latin typeface="Times New Roman"/>
                <a:cs typeface="Arial"/>
              </a:rPr>
              <a:t>Many </a:t>
            </a:r>
            <a:r>
              <a:rPr lang="en-US" dirty="0">
                <a:latin typeface="Times New Roman"/>
                <a:cs typeface="Arial"/>
              </a:rPr>
              <a:t>research datasets lack real-world diversity (lighting variations, cluttered backgrounds</a:t>
            </a:r>
            <a:r>
              <a:rPr lang="en-US" dirty="0" smtClean="0">
                <a:latin typeface="Times New Roman"/>
                <a:cs typeface="Arial"/>
              </a:rPr>
              <a:t>).</a:t>
            </a:r>
          </a:p>
          <a:p>
            <a:pPr marL="285750" indent="-285750">
              <a:buFont typeface="Wingdings"/>
              <a:buChar char="Ø"/>
            </a:pPr>
            <a:r>
              <a:rPr lang="en-US" dirty="0" smtClean="0">
                <a:latin typeface="Times New Roman"/>
                <a:cs typeface="Arial"/>
              </a:rPr>
              <a:t>Limited </a:t>
            </a:r>
            <a:r>
              <a:rPr lang="en-US" dirty="0">
                <a:latin typeface="Times New Roman"/>
                <a:cs typeface="Arial"/>
              </a:rPr>
              <a:t>studies address Polithin vs Plastic confusion due to visual similarity</a:t>
            </a:r>
            <a:r>
              <a:rPr lang="en-US" dirty="0" smtClean="0">
                <a:latin typeface="Times New Roman"/>
                <a:cs typeface="Arial"/>
              </a:rPr>
              <a:t>.</a:t>
            </a:r>
          </a:p>
          <a:p>
            <a:pPr marL="285750" indent="-285750">
              <a:buFont typeface="Wingdings"/>
              <a:buChar char="Ø"/>
            </a:pPr>
            <a:r>
              <a:rPr lang="en-US" dirty="0" smtClean="0">
                <a:latin typeface="Times New Roman"/>
                <a:cs typeface="Arial"/>
              </a:rPr>
              <a:t>Few </a:t>
            </a:r>
            <a:r>
              <a:rPr lang="en-US" dirty="0">
                <a:latin typeface="Times New Roman"/>
                <a:cs typeface="Arial"/>
              </a:rPr>
              <a:t>works implement a hybrid model combining classification + detection</a:t>
            </a:r>
            <a:r>
              <a:rPr lang="en-US" dirty="0" smtClean="0">
                <a:latin typeface="Times New Roman"/>
                <a:cs typeface="Arial"/>
              </a:rPr>
              <a:t>.</a:t>
            </a:r>
          </a:p>
          <a:p>
            <a:pPr marL="285750" indent="-285750">
              <a:buFont typeface="Wingdings"/>
              <a:buChar char="Ø"/>
            </a:pPr>
            <a:r>
              <a:rPr lang="en-US" dirty="0" smtClean="0">
                <a:latin typeface="Times New Roman"/>
                <a:cs typeface="Arial"/>
              </a:rPr>
              <a:t>Most </a:t>
            </a:r>
            <a:r>
              <a:rPr lang="en-US" dirty="0">
                <a:latin typeface="Times New Roman"/>
                <a:cs typeface="Arial"/>
              </a:rPr>
              <a:t>traditional waste sorting methods rely on manual labor, leading to inaccuracy and health risks</a:t>
            </a:r>
            <a:r>
              <a:rPr lang="en-US" dirty="0" smtClean="0">
                <a:latin typeface="Times New Roman"/>
                <a:cs typeface="Arial"/>
              </a:rPr>
              <a:t>.</a:t>
            </a:r>
          </a:p>
          <a:p>
            <a:pPr marL="285750" indent="-285750">
              <a:buFont typeface="Wingdings"/>
              <a:buChar char="Ø"/>
            </a:pPr>
            <a:r>
              <a:rPr lang="en-US" dirty="0" smtClean="0">
                <a:latin typeface="Times New Roman"/>
                <a:cs typeface="Arial"/>
              </a:rPr>
              <a:t>Existing </a:t>
            </a:r>
            <a:r>
              <a:rPr lang="en-US" dirty="0">
                <a:latin typeface="Times New Roman"/>
                <a:cs typeface="Arial"/>
              </a:rPr>
              <a:t>ML models struggle with transparent waste and overlapping objects</a:t>
            </a:r>
            <a:r>
              <a:rPr lang="en-US" dirty="0" smtClean="0">
                <a:latin typeface="Times New Roman"/>
                <a:cs typeface="Arial"/>
              </a:rPr>
              <a:t>.</a:t>
            </a:r>
          </a:p>
          <a:p>
            <a:pPr marL="285750" indent="-285750">
              <a:buFont typeface="Wingdings"/>
              <a:buChar char="Ø"/>
            </a:pPr>
            <a:r>
              <a:rPr lang="en-US" dirty="0" smtClean="0">
                <a:latin typeface="Times New Roman"/>
                <a:cs typeface="Arial"/>
              </a:rPr>
              <a:t>Real-time </a:t>
            </a:r>
            <a:r>
              <a:rPr lang="en-US" dirty="0">
                <a:latin typeface="Times New Roman"/>
                <a:cs typeface="Arial"/>
              </a:rPr>
              <a:t>waste detection is missing in many previous systems.</a:t>
            </a:r>
            <a:endParaRPr lang="en-US" dirty="0"/>
          </a:p>
        </p:txBody>
      </p:sp>
      <p:pic>
        <p:nvPicPr>
          <p:cNvPr id="7" name="Picture 6" descr="A cartoon of a person holding a magnifying glass and a clipboard&#10;&#10;AI-generated content may be incorrect.">
            <a:extLst>
              <a:ext uri="{FF2B5EF4-FFF2-40B4-BE49-F238E27FC236}">
                <a16:creationId xmlns:a16="http://schemas.microsoft.com/office/drawing/2014/main" id="{9064A400-662B-F078-AAA4-F4BBBF205DFC}"/>
              </a:ext>
            </a:extLst>
          </p:cNvPr>
          <p:cNvPicPr>
            <a:picLocks noChangeAspect="1"/>
          </p:cNvPicPr>
          <p:nvPr/>
        </p:nvPicPr>
        <p:blipFill>
          <a:blip r:embed="rId2"/>
          <a:stretch>
            <a:fillRect/>
          </a:stretch>
        </p:blipFill>
        <p:spPr>
          <a:xfrm>
            <a:off x="349827" y="1413163"/>
            <a:ext cx="5389419" cy="4558146"/>
          </a:xfrm>
          <a:prstGeom prst="rect">
            <a:avLst/>
          </a:prstGeom>
        </p:spPr>
      </p:pic>
    </p:spTree>
    <p:extLst>
      <p:ext uri="{BB962C8B-B14F-4D97-AF65-F5344CB8AC3E}">
        <p14:creationId xmlns:p14="http://schemas.microsoft.com/office/powerpoint/2010/main" val="825664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Methodology</a:t>
            </a:r>
            <a:endParaRPr lang="en-US" dirty="0">
              <a:solidFill>
                <a:srgbClr val="7030A0"/>
              </a:solidFill>
            </a:endParaRPr>
          </a:p>
        </p:txBody>
      </p:sp>
      <p:sp>
        <p:nvSpPr>
          <p:cNvPr id="4" name="Slide Number Placeholder 3"/>
          <p:cNvSpPr>
            <a:spLocks noGrp="1"/>
          </p:cNvSpPr>
          <p:nvPr>
            <p:ph type="sldNum" sz="quarter" idx="16"/>
          </p:nvPr>
        </p:nvSpPr>
        <p:spPr>
          <a:xfrm>
            <a:off x="9356344" y="5961650"/>
            <a:ext cx="2844800" cy="365125"/>
          </a:xfrm>
        </p:spPr>
        <p:txBody>
          <a:bodyPr/>
          <a:lstStyle/>
          <a:p>
            <a:pPr>
              <a:defRPr/>
            </a:pPr>
            <a:fld id="{4CD333A3-7515-47B8-9EDC-EE0892D9C861}" type="slidenum">
              <a:rPr lang="en-US" smtClean="0"/>
              <a:pPr>
                <a:defRPr/>
              </a:pPr>
              <a:t>8</a:t>
            </a:fld>
            <a:endParaRPr lang="en-US" dirty="0"/>
          </a:p>
        </p:txBody>
      </p:sp>
      <p:sp>
        <p:nvSpPr>
          <p:cNvPr id="3" name="TextBox 2">
            <a:extLst>
              <a:ext uri="{FF2B5EF4-FFF2-40B4-BE49-F238E27FC236}">
                <a16:creationId xmlns:a16="http://schemas.microsoft.com/office/drawing/2014/main" id="{B816528C-6541-3FC8-24E6-91C1C409DF59}"/>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graphicFrame>
        <p:nvGraphicFramePr>
          <p:cNvPr id="6" name="Diagram 5">
            <a:extLst>
              <a:ext uri="{FF2B5EF4-FFF2-40B4-BE49-F238E27FC236}">
                <a16:creationId xmlns:a16="http://schemas.microsoft.com/office/drawing/2014/main" id="{35EB0736-2578-95A1-D364-9F5772A5148B}"/>
              </a:ext>
            </a:extLst>
          </p:cNvPr>
          <p:cNvGraphicFramePr/>
          <p:nvPr>
            <p:extLst>
              <p:ext uri="{D42A27DB-BD31-4B8C-83A1-F6EECF244321}">
                <p14:modId xmlns:p14="http://schemas.microsoft.com/office/powerpoint/2010/main" val="3360750103"/>
              </p:ext>
            </p:extLst>
          </p:nvPr>
        </p:nvGraphicFramePr>
        <p:xfrm>
          <a:off x="4930589" y="1143001"/>
          <a:ext cx="5987143" cy="51182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2719" y="1143000"/>
            <a:ext cx="4038600" cy="5118207"/>
          </a:xfrm>
          <a:prstGeom prst="rect">
            <a:avLst/>
          </a:prstGeom>
        </p:spPr>
      </p:pic>
    </p:spTree>
    <p:extLst>
      <p:ext uri="{BB962C8B-B14F-4D97-AF65-F5344CB8AC3E}">
        <p14:creationId xmlns:p14="http://schemas.microsoft.com/office/powerpoint/2010/main" val="925644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E5C-71F2-3105-2435-0102C1334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611926-D2A5-F445-0117-A4074CC94842}"/>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BC820640-2CE5-2763-409D-C0C0D296CBCF}"/>
              </a:ext>
            </a:extLst>
          </p:cNvPr>
          <p:cNvSpPr>
            <a:spLocks noGrp="1"/>
          </p:cNvSpPr>
          <p:nvPr>
            <p:ph type="sldNum" sz="quarter" idx="16"/>
          </p:nvPr>
        </p:nvSpPr>
        <p:spPr>
          <a:xfrm>
            <a:off x="9347200" y="5989637"/>
            <a:ext cx="2844800" cy="365125"/>
          </a:xfrm>
        </p:spPr>
        <p:txBody>
          <a:bodyPr/>
          <a:lstStyle/>
          <a:p>
            <a:pPr>
              <a:defRPr/>
            </a:pPr>
            <a:fld id="{4CD333A3-7515-47B8-9EDC-EE0892D9C861}" type="slidenum">
              <a:rPr lang="en-US" smtClean="0"/>
              <a:pPr>
                <a:defRPr/>
              </a:pPr>
              <a:t>9</a:t>
            </a:fld>
            <a:endParaRPr lang="en-US" dirty="0"/>
          </a:p>
        </p:txBody>
      </p:sp>
      <p:sp>
        <p:nvSpPr>
          <p:cNvPr id="3" name="TextBox 2">
            <a:extLst>
              <a:ext uri="{FF2B5EF4-FFF2-40B4-BE49-F238E27FC236}">
                <a16:creationId xmlns:a16="http://schemas.microsoft.com/office/drawing/2014/main" id="{6B0481A9-B6A6-5839-3819-C47F1F1AA0A9}"/>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7" name="TextBox 6">
            <a:extLst>
              <a:ext uri="{FF2B5EF4-FFF2-40B4-BE49-F238E27FC236}">
                <a16:creationId xmlns:a16="http://schemas.microsoft.com/office/drawing/2014/main" id="{835ADAF8-6FD6-3D49-C8A8-A04CB621F0AD}"/>
              </a:ext>
            </a:extLst>
          </p:cNvPr>
          <p:cNvSpPr txBox="1"/>
          <p:nvPr/>
        </p:nvSpPr>
        <p:spPr>
          <a:xfrm>
            <a:off x="6324600" y="1624923"/>
            <a:ext cx="4724400"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cs typeface="Arial"/>
              </a:rPr>
              <a:t>Overall Model Performance</a:t>
            </a:r>
          </a:p>
          <a:p>
            <a:endParaRPr lang="en-US" sz="1600" dirty="0">
              <a:latin typeface="Times New Roman"/>
              <a:cs typeface="Arial"/>
            </a:endParaRPr>
          </a:p>
          <a:p>
            <a:endParaRPr lang="en-US" sz="1600" i="1" dirty="0">
              <a:latin typeface="Times New Roman"/>
              <a:cs typeface="Arial"/>
            </a:endParaRPr>
          </a:p>
          <a:p>
            <a:pPr algn="ctr"/>
            <a:endParaRPr lang="en-US"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1143000"/>
            <a:ext cx="5029200" cy="4648200"/>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1991150431"/>
              </p:ext>
            </p:extLst>
          </p:nvPr>
        </p:nvGraphicFramePr>
        <p:xfrm>
          <a:off x="5410200" y="2287092"/>
          <a:ext cx="6477000" cy="1989515"/>
        </p:xfrm>
        <a:graphic>
          <a:graphicData uri="http://schemas.openxmlformats.org/drawingml/2006/table">
            <a:tbl>
              <a:tblPr firstRow="1" firstCol="1" bandRow="1">
                <a:tableStyleId>{5C22544A-7EE6-4342-B048-85BDC9FD1C3A}</a:tableStyleId>
              </a:tblPr>
              <a:tblGrid>
                <a:gridCol w="1447800">
                  <a:extLst>
                    <a:ext uri="{9D8B030D-6E8A-4147-A177-3AD203B41FA5}">
                      <a16:colId xmlns:a16="http://schemas.microsoft.com/office/drawing/2014/main" val="3959116196"/>
                    </a:ext>
                  </a:extLst>
                </a:gridCol>
                <a:gridCol w="1295400">
                  <a:extLst>
                    <a:ext uri="{9D8B030D-6E8A-4147-A177-3AD203B41FA5}">
                      <a16:colId xmlns:a16="http://schemas.microsoft.com/office/drawing/2014/main" val="3236277370"/>
                    </a:ext>
                  </a:extLst>
                </a:gridCol>
                <a:gridCol w="1371600">
                  <a:extLst>
                    <a:ext uri="{9D8B030D-6E8A-4147-A177-3AD203B41FA5}">
                      <a16:colId xmlns:a16="http://schemas.microsoft.com/office/drawing/2014/main" val="3233856817"/>
                    </a:ext>
                  </a:extLst>
                </a:gridCol>
                <a:gridCol w="1066800">
                  <a:extLst>
                    <a:ext uri="{9D8B030D-6E8A-4147-A177-3AD203B41FA5}">
                      <a16:colId xmlns:a16="http://schemas.microsoft.com/office/drawing/2014/main" val="3615999676"/>
                    </a:ext>
                  </a:extLst>
                </a:gridCol>
                <a:gridCol w="1295400">
                  <a:extLst>
                    <a:ext uri="{9D8B030D-6E8A-4147-A177-3AD203B41FA5}">
                      <a16:colId xmlns:a16="http://schemas.microsoft.com/office/drawing/2014/main" val="3762971511"/>
                    </a:ext>
                  </a:extLst>
                </a:gridCol>
              </a:tblGrid>
              <a:tr h="803128">
                <a:tc>
                  <a:txBody>
                    <a:bodyPr/>
                    <a:lstStyle/>
                    <a:p>
                      <a:pPr marL="38100" marR="0" indent="0" algn="ctr">
                        <a:lnSpc>
                          <a:spcPct val="107000"/>
                        </a:lnSpc>
                        <a:spcBef>
                          <a:spcPts val="0"/>
                        </a:spcBef>
                        <a:spcAft>
                          <a:spcPts val="0"/>
                        </a:spcAft>
                      </a:pPr>
                      <a:r>
                        <a:rPr lang="en-US" sz="1600">
                          <a:effectLst/>
                        </a:rPr>
                        <a:t>Model Name</a:t>
                      </a:r>
                      <a:endParaRPr lang="en-US" sz="1600">
                        <a:solidFill>
                          <a:srgbClr val="000000"/>
                        </a:solidFill>
                        <a:effectLst/>
                        <a:latin typeface="Century" panose="02040604050505020304" pitchFamily="18" charset="0"/>
                        <a:ea typeface="Century" panose="02040604050505020304" pitchFamily="18" charset="0"/>
                        <a:cs typeface="Century" panose="02040604050505020304" pitchFamily="18" charset="0"/>
                      </a:endParaRPr>
                    </a:p>
                  </a:txBody>
                  <a:tcPr marL="68580" marR="68580" marT="0" marB="0"/>
                </a:tc>
                <a:tc>
                  <a:txBody>
                    <a:bodyPr/>
                    <a:lstStyle/>
                    <a:p>
                      <a:pPr marL="38100" marR="0" indent="0" algn="ctr">
                        <a:lnSpc>
                          <a:spcPct val="107000"/>
                        </a:lnSpc>
                        <a:spcBef>
                          <a:spcPts val="0"/>
                        </a:spcBef>
                        <a:spcAft>
                          <a:spcPts val="0"/>
                        </a:spcAft>
                      </a:pPr>
                      <a:r>
                        <a:rPr lang="en-US" sz="1600">
                          <a:effectLst/>
                        </a:rPr>
                        <a:t>Accuracy (%)</a:t>
                      </a:r>
                      <a:endParaRPr lang="en-US" sz="1600">
                        <a:solidFill>
                          <a:srgbClr val="000000"/>
                        </a:solidFill>
                        <a:effectLst/>
                        <a:latin typeface="Century" panose="02040604050505020304" pitchFamily="18" charset="0"/>
                        <a:ea typeface="Century" panose="02040604050505020304" pitchFamily="18" charset="0"/>
                        <a:cs typeface="Century" panose="02040604050505020304" pitchFamily="18" charset="0"/>
                      </a:endParaRPr>
                    </a:p>
                  </a:txBody>
                  <a:tcPr marL="68580" marR="68580" marT="0" marB="0"/>
                </a:tc>
                <a:tc>
                  <a:txBody>
                    <a:bodyPr/>
                    <a:lstStyle/>
                    <a:p>
                      <a:pPr marL="38100" marR="0" indent="0" algn="ctr">
                        <a:lnSpc>
                          <a:spcPct val="107000"/>
                        </a:lnSpc>
                        <a:spcBef>
                          <a:spcPts val="0"/>
                        </a:spcBef>
                        <a:spcAft>
                          <a:spcPts val="0"/>
                        </a:spcAft>
                      </a:pPr>
                      <a:r>
                        <a:rPr lang="en-US" sz="1600">
                          <a:effectLst/>
                        </a:rPr>
                        <a:t>Precision (%)</a:t>
                      </a:r>
                      <a:endParaRPr lang="en-US" sz="1600">
                        <a:solidFill>
                          <a:srgbClr val="000000"/>
                        </a:solidFill>
                        <a:effectLst/>
                        <a:latin typeface="Century" panose="02040604050505020304" pitchFamily="18" charset="0"/>
                        <a:ea typeface="Century" panose="02040604050505020304" pitchFamily="18" charset="0"/>
                        <a:cs typeface="Century" panose="02040604050505020304" pitchFamily="18" charset="0"/>
                      </a:endParaRPr>
                    </a:p>
                  </a:txBody>
                  <a:tcPr marL="68580" marR="68580" marT="0" marB="0"/>
                </a:tc>
                <a:tc>
                  <a:txBody>
                    <a:bodyPr/>
                    <a:lstStyle/>
                    <a:p>
                      <a:pPr marL="38100" marR="0" indent="0" algn="ctr">
                        <a:lnSpc>
                          <a:spcPct val="107000"/>
                        </a:lnSpc>
                        <a:spcBef>
                          <a:spcPts val="0"/>
                        </a:spcBef>
                        <a:spcAft>
                          <a:spcPts val="0"/>
                        </a:spcAft>
                      </a:pPr>
                      <a:r>
                        <a:rPr lang="en-US" sz="1600">
                          <a:effectLst/>
                        </a:rPr>
                        <a:t>Recall (%)</a:t>
                      </a:r>
                      <a:endParaRPr lang="en-US" sz="1600">
                        <a:solidFill>
                          <a:srgbClr val="000000"/>
                        </a:solidFill>
                        <a:effectLst/>
                        <a:latin typeface="Century" panose="02040604050505020304" pitchFamily="18" charset="0"/>
                        <a:ea typeface="Century" panose="02040604050505020304" pitchFamily="18" charset="0"/>
                        <a:cs typeface="Century" panose="02040604050505020304" pitchFamily="18" charset="0"/>
                      </a:endParaRPr>
                    </a:p>
                  </a:txBody>
                  <a:tcPr marL="68580" marR="68580" marT="0" marB="0"/>
                </a:tc>
                <a:tc>
                  <a:txBody>
                    <a:bodyPr/>
                    <a:lstStyle/>
                    <a:p>
                      <a:pPr marL="38100" marR="0" indent="0" algn="ctr">
                        <a:lnSpc>
                          <a:spcPct val="107000"/>
                        </a:lnSpc>
                        <a:spcBef>
                          <a:spcPts val="0"/>
                        </a:spcBef>
                        <a:spcAft>
                          <a:spcPts val="0"/>
                        </a:spcAft>
                      </a:pPr>
                      <a:r>
                        <a:rPr lang="en-US" sz="1600">
                          <a:effectLst/>
                        </a:rPr>
                        <a:t>F1-Score (%)</a:t>
                      </a:r>
                      <a:endParaRPr lang="en-US" sz="1600">
                        <a:solidFill>
                          <a:srgbClr val="000000"/>
                        </a:solidFill>
                        <a:effectLst/>
                        <a:latin typeface="Century" panose="02040604050505020304" pitchFamily="18" charset="0"/>
                        <a:ea typeface="Century" panose="02040604050505020304" pitchFamily="18" charset="0"/>
                        <a:cs typeface="Century" panose="02040604050505020304" pitchFamily="18" charset="0"/>
                      </a:endParaRPr>
                    </a:p>
                  </a:txBody>
                  <a:tcPr marL="68580" marR="68580" marT="0" marB="0"/>
                </a:tc>
                <a:extLst>
                  <a:ext uri="{0D108BD9-81ED-4DB2-BD59-A6C34878D82A}">
                    <a16:rowId xmlns:a16="http://schemas.microsoft.com/office/drawing/2014/main" val="4120260204"/>
                  </a:ext>
                </a:extLst>
              </a:tr>
              <a:tr h="299834">
                <a:tc>
                  <a:txBody>
                    <a:bodyPr/>
                    <a:lstStyle/>
                    <a:p>
                      <a:pPr marL="38100" marR="0" indent="0" algn="ctr">
                        <a:lnSpc>
                          <a:spcPct val="107000"/>
                        </a:lnSpc>
                        <a:spcBef>
                          <a:spcPts val="0"/>
                        </a:spcBef>
                        <a:spcAft>
                          <a:spcPts val="0"/>
                        </a:spcAft>
                      </a:pPr>
                      <a:r>
                        <a:rPr lang="en-US" sz="1600">
                          <a:effectLst/>
                        </a:rPr>
                        <a:t>MobileNetV2</a:t>
                      </a:r>
                      <a:endParaRPr lang="en-US" sz="1600">
                        <a:solidFill>
                          <a:srgbClr val="000000"/>
                        </a:solidFill>
                        <a:effectLst/>
                        <a:latin typeface="Century" panose="02040604050505020304" pitchFamily="18" charset="0"/>
                        <a:ea typeface="Century" panose="02040604050505020304" pitchFamily="18" charset="0"/>
                        <a:cs typeface="Century" panose="02040604050505020304" pitchFamily="18" charset="0"/>
                      </a:endParaRPr>
                    </a:p>
                  </a:txBody>
                  <a:tcPr marL="68580" marR="68580" marT="0" marB="0"/>
                </a:tc>
                <a:tc>
                  <a:txBody>
                    <a:bodyPr/>
                    <a:lstStyle/>
                    <a:p>
                      <a:pPr marL="38100" marR="0" indent="0" algn="ctr">
                        <a:lnSpc>
                          <a:spcPct val="107000"/>
                        </a:lnSpc>
                        <a:spcBef>
                          <a:spcPts val="0"/>
                        </a:spcBef>
                        <a:spcAft>
                          <a:spcPts val="0"/>
                        </a:spcAft>
                      </a:pPr>
                      <a:r>
                        <a:rPr lang="en-US" sz="1600">
                          <a:effectLst/>
                        </a:rPr>
                        <a:t>84.72</a:t>
                      </a:r>
                      <a:endParaRPr lang="en-US" sz="1600">
                        <a:solidFill>
                          <a:srgbClr val="000000"/>
                        </a:solidFill>
                        <a:effectLst/>
                        <a:latin typeface="Century" panose="02040604050505020304" pitchFamily="18" charset="0"/>
                        <a:ea typeface="Century" panose="02040604050505020304" pitchFamily="18" charset="0"/>
                        <a:cs typeface="Century" panose="02040604050505020304" pitchFamily="18" charset="0"/>
                      </a:endParaRPr>
                    </a:p>
                  </a:txBody>
                  <a:tcPr marL="68580" marR="68580" marT="0" marB="0"/>
                </a:tc>
                <a:tc>
                  <a:txBody>
                    <a:bodyPr/>
                    <a:lstStyle/>
                    <a:p>
                      <a:pPr marL="38100" marR="0" indent="0" algn="ctr">
                        <a:lnSpc>
                          <a:spcPct val="107000"/>
                        </a:lnSpc>
                        <a:spcBef>
                          <a:spcPts val="0"/>
                        </a:spcBef>
                        <a:spcAft>
                          <a:spcPts val="0"/>
                        </a:spcAft>
                      </a:pPr>
                      <a:r>
                        <a:rPr lang="en-US" sz="1600">
                          <a:effectLst/>
                        </a:rPr>
                        <a:t>85.10</a:t>
                      </a:r>
                      <a:endParaRPr lang="en-US" sz="1600">
                        <a:solidFill>
                          <a:srgbClr val="000000"/>
                        </a:solidFill>
                        <a:effectLst/>
                        <a:latin typeface="Century" panose="02040604050505020304" pitchFamily="18" charset="0"/>
                        <a:ea typeface="Century" panose="02040604050505020304" pitchFamily="18" charset="0"/>
                        <a:cs typeface="Century" panose="02040604050505020304" pitchFamily="18" charset="0"/>
                      </a:endParaRPr>
                    </a:p>
                  </a:txBody>
                  <a:tcPr marL="68580" marR="68580" marT="0" marB="0"/>
                </a:tc>
                <a:tc>
                  <a:txBody>
                    <a:bodyPr/>
                    <a:lstStyle/>
                    <a:p>
                      <a:pPr marL="38100" marR="0" indent="0" algn="ctr">
                        <a:lnSpc>
                          <a:spcPct val="107000"/>
                        </a:lnSpc>
                        <a:spcBef>
                          <a:spcPts val="0"/>
                        </a:spcBef>
                        <a:spcAft>
                          <a:spcPts val="0"/>
                        </a:spcAft>
                      </a:pPr>
                      <a:r>
                        <a:rPr lang="en-US" sz="1600">
                          <a:effectLst/>
                        </a:rPr>
                        <a:t>83.40</a:t>
                      </a:r>
                      <a:endParaRPr lang="en-US" sz="1600">
                        <a:solidFill>
                          <a:srgbClr val="000000"/>
                        </a:solidFill>
                        <a:effectLst/>
                        <a:latin typeface="Century" panose="02040604050505020304" pitchFamily="18" charset="0"/>
                        <a:ea typeface="Century" panose="02040604050505020304" pitchFamily="18" charset="0"/>
                        <a:cs typeface="Century" panose="02040604050505020304" pitchFamily="18" charset="0"/>
                      </a:endParaRPr>
                    </a:p>
                  </a:txBody>
                  <a:tcPr marL="68580" marR="68580" marT="0" marB="0"/>
                </a:tc>
                <a:tc>
                  <a:txBody>
                    <a:bodyPr/>
                    <a:lstStyle/>
                    <a:p>
                      <a:pPr marL="38100" marR="0" indent="0" algn="ctr">
                        <a:lnSpc>
                          <a:spcPct val="107000"/>
                        </a:lnSpc>
                        <a:spcBef>
                          <a:spcPts val="0"/>
                        </a:spcBef>
                        <a:spcAft>
                          <a:spcPts val="0"/>
                        </a:spcAft>
                      </a:pPr>
                      <a:r>
                        <a:rPr lang="en-US" sz="1600">
                          <a:effectLst/>
                        </a:rPr>
                        <a:t>84.23</a:t>
                      </a:r>
                      <a:endParaRPr lang="en-US" sz="1600">
                        <a:solidFill>
                          <a:srgbClr val="000000"/>
                        </a:solidFill>
                        <a:effectLst/>
                        <a:latin typeface="Century" panose="02040604050505020304" pitchFamily="18" charset="0"/>
                        <a:ea typeface="Century" panose="02040604050505020304" pitchFamily="18" charset="0"/>
                        <a:cs typeface="Century" panose="02040604050505020304" pitchFamily="18" charset="0"/>
                      </a:endParaRPr>
                    </a:p>
                  </a:txBody>
                  <a:tcPr marL="68580" marR="68580" marT="0" marB="0"/>
                </a:tc>
                <a:extLst>
                  <a:ext uri="{0D108BD9-81ED-4DB2-BD59-A6C34878D82A}">
                    <a16:rowId xmlns:a16="http://schemas.microsoft.com/office/drawing/2014/main" val="2966223447"/>
                  </a:ext>
                </a:extLst>
              </a:tr>
              <a:tr h="299834">
                <a:tc>
                  <a:txBody>
                    <a:bodyPr/>
                    <a:lstStyle/>
                    <a:p>
                      <a:pPr marL="38100" marR="0" indent="0" algn="ctr">
                        <a:lnSpc>
                          <a:spcPct val="107000"/>
                        </a:lnSpc>
                        <a:spcBef>
                          <a:spcPts val="0"/>
                        </a:spcBef>
                        <a:spcAft>
                          <a:spcPts val="0"/>
                        </a:spcAft>
                      </a:pPr>
                      <a:r>
                        <a:rPr lang="en-US" sz="1600">
                          <a:effectLst/>
                        </a:rPr>
                        <a:t>ResNet50</a:t>
                      </a:r>
                      <a:endParaRPr lang="en-US" sz="1600">
                        <a:solidFill>
                          <a:srgbClr val="000000"/>
                        </a:solidFill>
                        <a:effectLst/>
                        <a:latin typeface="Century" panose="02040604050505020304" pitchFamily="18" charset="0"/>
                        <a:ea typeface="Century" panose="02040604050505020304" pitchFamily="18" charset="0"/>
                        <a:cs typeface="Century" panose="02040604050505020304" pitchFamily="18" charset="0"/>
                      </a:endParaRPr>
                    </a:p>
                  </a:txBody>
                  <a:tcPr marL="68580" marR="68580" marT="0" marB="0"/>
                </a:tc>
                <a:tc>
                  <a:txBody>
                    <a:bodyPr/>
                    <a:lstStyle/>
                    <a:p>
                      <a:pPr marL="38100" marR="0" indent="0" algn="ctr">
                        <a:lnSpc>
                          <a:spcPct val="107000"/>
                        </a:lnSpc>
                        <a:spcBef>
                          <a:spcPts val="0"/>
                        </a:spcBef>
                        <a:spcAft>
                          <a:spcPts val="0"/>
                        </a:spcAft>
                      </a:pPr>
                      <a:r>
                        <a:rPr lang="en-US" sz="1600">
                          <a:effectLst/>
                        </a:rPr>
                        <a:t>88.95</a:t>
                      </a:r>
                      <a:endParaRPr lang="en-US" sz="1600">
                        <a:solidFill>
                          <a:srgbClr val="000000"/>
                        </a:solidFill>
                        <a:effectLst/>
                        <a:latin typeface="Century" panose="02040604050505020304" pitchFamily="18" charset="0"/>
                        <a:ea typeface="Century" panose="02040604050505020304" pitchFamily="18" charset="0"/>
                        <a:cs typeface="Century" panose="02040604050505020304" pitchFamily="18" charset="0"/>
                      </a:endParaRPr>
                    </a:p>
                  </a:txBody>
                  <a:tcPr marL="68580" marR="68580" marT="0" marB="0"/>
                </a:tc>
                <a:tc>
                  <a:txBody>
                    <a:bodyPr/>
                    <a:lstStyle/>
                    <a:p>
                      <a:pPr marL="38100" marR="0" indent="0" algn="ctr">
                        <a:lnSpc>
                          <a:spcPct val="107000"/>
                        </a:lnSpc>
                        <a:spcBef>
                          <a:spcPts val="0"/>
                        </a:spcBef>
                        <a:spcAft>
                          <a:spcPts val="0"/>
                        </a:spcAft>
                      </a:pPr>
                      <a:r>
                        <a:rPr lang="en-US" sz="1600" dirty="0">
                          <a:effectLst/>
                        </a:rPr>
                        <a:t>89.60</a:t>
                      </a:r>
                      <a:endParaRPr lang="en-US" sz="1600" dirty="0">
                        <a:solidFill>
                          <a:srgbClr val="000000"/>
                        </a:solidFill>
                        <a:effectLst/>
                        <a:latin typeface="Century" panose="02040604050505020304" pitchFamily="18" charset="0"/>
                        <a:ea typeface="Century" panose="02040604050505020304" pitchFamily="18" charset="0"/>
                        <a:cs typeface="Century" panose="02040604050505020304" pitchFamily="18" charset="0"/>
                      </a:endParaRPr>
                    </a:p>
                  </a:txBody>
                  <a:tcPr marL="68580" marR="68580" marT="0" marB="0"/>
                </a:tc>
                <a:tc>
                  <a:txBody>
                    <a:bodyPr/>
                    <a:lstStyle/>
                    <a:p>
                      <a:pPr marL="38100" marR="0" indent="0" algn="ctr">
                        <a:lnSpc>
                          <a:spcPct val="107000"/>
                        </a:lnSpc>
                        <a:spcBef>
                          <a:spcPts val="0"/>
                        </a:spcBef>
                        <a:spcAft>
                          <a:spcPts val="0"/>
                        </a:spcAft>
                      </a:pPr>
                      <a:r>
                        <a:rPr lang="en-US" sz="1600">
                          <a:effectLst/>
                        </a:rPr>
                        <a:t>88.10</a:t>
                      </a:r>
                      <a:endParaRPr lang="en-US" sz="1600">
                        <a:solidFill>
                          <a:srgbClr val="000000"/>
                        </a:solidFill>
                        <a:effectLst/>
                        <a:latin typeface="Century" panose="02040604050505020304" pitchFamily="18" charset="0"/>
                        <a:ea typeface="Century" panose="02040604050505020304" pitchFamily="18" charset="0"/>
                        <a:cs typeface="Century" panose="02040604050505020304" pitchFamily="18" charset="0"/>
                      </a:endParaRPr>
                    </a:p>
                  </a:txBody>
                  <a:tcPr marL="68580" marR="68580" marT="0" marB="0"/>
                </a:tc>
                <a:tc>
                  <a:txBody>
                    <a:bodyPr/>
                    <a:lstStyle/>
                    <a:p>
                      <a:pPr marL="38100" marR="0" indent="0" algn="ctr">
                        <a:lnSpc>
                          <a:spcPct val="107000"/>
                        </a:lnSpc>
                        <a:spcBef>
                          <a:spcPts val="0"/>
                        </a:spcBef>
                        <a:spcAft>
                          <a:spcPts val="0"/>
                        </a:spcAft>
                      </a:pPr>
                      <a:r>
                        <a:rPr lang="en-US" sz="1600">
                          <a:effectLst/>
                        </a:rPr>
                        <a:t>88.84</a:t>
                      </a:r>
                      <a:endParaRPr lang="en-US" sz="1600">
                        <a:solidFill>
                          <a:srgbClr val="000000"/>
                        </a:solidFill>
                        <a:effectLst/>
                        <a:latin typeface="Century" panose="02040604050505020304" pitchFamily="18" charset="0"/>
                        <a:ea typeface="Century" panose="02040604050505020304" pitchFamily="18" charset="0"/>
                        <a:cs typeface="Century" panose="02040604050505020304" pitchFamily="18" charset="0"/>
                      </a:endParaRPr>
                    </a:p>
                  </a:txBody>
                  <a:tcPr marL="68580" marR="68580" marT="0" marB="0"/>
                </a:tc>
                <a:extLst>
                  <a:ext uri="{0D108BD9-81ED-4DB2-BD59-A6C34878D82A}">
                    <a16:rowId xmlns:a16="http://schemas.microsoft.com/office/drawing/2014/main" val="2244126869"/>
                  </a:ext>
                </a:extLst>
              </a:tr>
              <a:tr h="286885">
                <a:tc>
                  <a:txBody>
                    <a:bodyPr/>
                    <a:lstStyle/>
                    <a:p>
                      <a:pPr marL="38100" marR="0" indent="0" algn="ctr">
                        <a:lnSpc>
                          <a:spcPct val="107000"/>
                        </a:lnSpc>
                        <a:spcBef>
                          <a:spcPts val="0"/>
                        </a:spcBef>
                        <a:spcAft>
                          <a:spcPts val="0"/>
                        </a:spcAft>
                      </a:pPr>
                      <a:r>
                        <a:rPr lang="en-US" sz="1600">
                          <a:effectLst/>
                        </a:rPr>
                        <a:t>EfficientNetB0</a:t>
                      </a:r>
                      <a:endParaRPr lang="en-US" sz="1600">
                        <a:solidFill>
                          <a:srgbClr val="000000"/>
                        </a:solidFill>
                        <a:effectLst/>
                        <a:latin typeface="Century" panose="02040604050505020304" pitchFamily="18" charset="0"/>
                        <a:ea typeface="Century" panose="02040604050505020304" pitchFamily="18" charset="0"/>
                        <a:cs typeface="Century" panose="02040604050505020304" pitchFamily="18" charset="0"/>
                      </a:endParaRPr>
                    </a:p>
                  </a:txBody>
                  <a:tcPr marL="68580" marR="68580" marT="0" marB="0"/>
                </a:tc>
                <a:tc>
                  <a:txBody>
                    <a:bodyPr/>
                    <a:lstStyle/>
                    <a:p>
                      <a:pPr marL="38100" marR="0" indent="0" algn="ctr">
                        <a:lnSpc>
                          <a:spcPct val="107000"/>
                        </a:lnSpc>
                        <a:spcBef>
                          <a:spcPts val="0"/>
                        </a:spcBef>
                        <a:spcAft>
                          <a:spcPts val="0"/>
                        </a:spcAft>
                      </a:pPr>
                      <a:r>
                        <a:rPr lang="en-US" sz="1600">
                          <a:effectLst/>
                        </a:rPr>
                        <a:t>86.32</a:t>
                      </a:r>
                      <a:endParaRPr lang="en-US" sz="1600">
                        <a:solidFill>
                          <a:srgbClr val="000000"/>
                        </a:solidFill>
                        <a:effectLst/>
                        <a:latin typeface="Century" panose="02040604050505020304" pitchFamily="18" charset="0"/>
                        <a:ea typeface="Century" panose="02040604050505020304" pitchFamily="18" charset="0"/>
                        <a:cs typeface="Century" panose="02040604050505020304" pitchFamily="18" charset="0"/>
                      </a:endParaRPr>
                    </a:p>
                  </a:txBody>
                  <a:tcPr marL="68580" marR="68580" marT="0" marB="0"/>
                </a:tc>
                <a:tc>
                  <a:txBody>
                    <a:bodyPr/>
                    <a:lstStyle/>
                    <a:p>
                      <a:pPr marL="38100" marR="0" indent="0" algn="ctr">
                        <a:lnSpc>
                          <a:spcPct val="107000"/>
                        </a:lnSpc>
                        <a:spcBef>
                          <a:spcPts val="0"/>
                        </a:spcBef>
                        <a:spcAft>
                          <a:spcPts val="0"/>
                        </a:spcAft>
                      </a:pPr>
                      <a:r>
                        <a:rPr lang="en-US" sz="1600">
                          <a:effectLst/>
                        </a:rPr>
                        <a:t>87.00</a:t>
                      </a:r>
                      <a:endParaRPr lang="en-US" sz="1600">
                        <a:solidFill>
                          <a:srgbClr val="000000"/>
                        </a:solidFill>
                        <a:effectLst/>
                        <a:latin typeface="Century" panose="02040604050505020304" pitchFamily="18" charset="0"/>
                        <a:ea typeface="Century" panose="02040604050505020304" pitchFamily="18" charset="0"/>
                        <a:cs typeface="Century" panose="02040604050505020304" pitchFamily="18" charset="0"/>
                      </a:endParaRPr>
                    </a:p>
                  </a:txBody>
                  <a:tcPr marL="68580" marR="68580" marT="0" marB="0"/>
                </a:tc>
                <a:tc>
                  <a:txBody>
                    <a:bodyPr/>
                    <a:lstStyle/>
                    <a:p>
                      <a:pPr marL="38100" marR="0" indent="0" algn="ctr">
                        <a:lnSpc>
                          <a:spcPct val="107000"/>
                        </a:lnSpc>
                        <a:spcBef>
                          <a:spcPts val="0"/>
                        </a:spcBef>
                        <a:spcAft>
                          <a:spcPts val="0"/>
                        </a:spcAft>
                      </a:pPr>
                      <a:r>
                        <a:rPr lang="en-US" sz="1600">
                          <a:effectLst/>
                        </a:rPr>
                        <a:t>85.90</a:t>
                      </a:r>
                      <a:endParaRPr lang="en-US" sz="1600">
                        <a:solidFill>
                          <a:srgbClr val="000000"/>
                        </a:solidFill>
                        <a:effectLst/>
                        <a:latin typeface="Century" panose="02040604050505020304" pitchFamily="18" charset="0"/>
                        <a:ea typeface="Century" panose="02040604050505020304" pitchFamily="18" charset="0"/>
                        <a:cs typeface="Century" panose="02040604050505020304" pitchFamily="18" charset="0"/>
                      </a:endParaRPr>
                    </a:p>
                  </a:txBody>
                  <a:tcPr marL="68580" marR="68580" marT="0" marB="0"/>
                </a:tc>
                <a:tc>
                  <a:txBody>
                    <a:bodyPr/>
                    <a:lstStyle/>
                    <a:p>
                      <a:pPr marL="38100" marR="0" indent="0" algn="ctr">
                        <a:lnSpc>
                          <a:spcPct val="107000"/>
                        </a:lnSpc>
                        <a:spcBef>
                          <a:spcPts val="0"/>
                        </a:spcBef>
                        <a:spcAft>
                          <a:spcPts val="0"/>
                        </a:spcAft>
                      </a:pPr>
                      <a:r>
                        <a:rPr lang="en-US" sz="1600">
                          <a:effectLst/>
                        </a:rPr>
                        <a:t>86.44</a:t>
                      </a:r>
                      <a:endParaRPr lang="en-US" sz="1600">
                        <a:solidFill>
                          <a:srgbClr val="000000"/>
                        </a:solidFill>
                        <a:effectLst/>
                        <a:latin typeface="Century" panose="02040604050505020304" pitchFamily="18" charset="0"/>
                        <a:ea typeface="Century" panose="02040604050505020304" pitchFamily="18" charset="0"/>
                        <a:cs typeface="Century" panose="02040604050505020304" pitchFamily="18" charset="0"/>
                      </a:endParaRPr>
                    </a:p>
                  </a:txBody>
                  <a:tcPr marL="68580" marR="68580" marT="0" marB="0"/>
                </a:tc>
                <a:extLst>
                  <a:ext uri="{0D108BD9-81ED-4DB2-BD59-A6C34878D82A}">
                    <a16:rowId xmlns:a16="http://schemas.microsoft.com/office/drawing/2014/main" val="1415525750"/>
                  </a:ext>
                </a:extLst>
              </a:tr>
              <a:tr h="299834">
                <a:tc>
                  <a:txBody>
                    <a:bodyPr/>
                    <a:lstStyle/>
                    <a:p>
                      <a:pPr marL="38100" marR="0" indent="0" algn="ctr">
                        <a:lnSpc>
                          <a:spcPct val="107000"/>
                        </a:lnSpc>
                        <a:spcBef>
                          <a:spcPts val="0"/>
                        </a:spcBef>
                        <a:spcAft>
                          <a:spcPts val="0"/>
                        </a:spcAft>
                      </a:pPr>
                      <a:r>
                        <a:rPr lang="en-US" sz="1600">
                          <a:effectLst/>
                        </a:rPr>
                        <a:t>EfficientNetB1</a:t>
                      </a:r>
                      <a:endParaRPr lang="en-US" sz="1600">
                        <a:solidFill>
                          <a:srgbClr val="000000"/>
                        </a:solidFill>
                        <a:effectLst/>
                        <a:latin typeface="Century" panose="02040604050505020304" pitchFamily="18" charset="0"/>
                        <a:ea typeface="Century" panose="02040604050505020304" pitchFamily="18" charset="0"/>
                        <a:cs typeface="Century" panose="02040604050505020304" pitchFamily="18" charset="0"/>
                      </a:endParaRPr>
                    </a:p>
                  </a:txBody>
                  <a:tcPr marL="68580" marR="68580" marT="0" marB="0"/>
                </a:tc>
                <a:tc>
                  <a:txBody>
                    <a:bodyPr/>
                    <a:lstStyle/>
                    <a:p>
                      <a:pPr marL="38100" marR="0" indent="0" algn="ctr">
                        <a:lnSpc>
                          <a:spcPct val="107000"/>
                        </a:lnSpc>
                        <a:spcBef>
                          <a:spcPts val="0"/>
                        </a:spcBef>
                        <a:spcAft>
                          <a:spcPts val="0"/>
                        </a:spcAft>
                      </a:pPr>
                      <a:r>
                        <a:rPr lang="en-US" sz="1600">
                          <a:effectLst/>
                        </a:rPr>
                        <a:t>89.12</a:t>
                      </a:r>
                      <a:endParaRPr lang="en-US" sz="1600">
                        <a:solidFill>
                          <a:srgbClr val="000000"/>
                        </a:solidFill>
                        <a:effectLst/>
                        <a:latin typeface="Century" panose="02040604050505020304" pitchFamily="18" charset="0"/>
                        <a:ea typeface="Century" panose="02040604050505020304" pitchFamily="18" charset="0"/>
                        <a:cs typeface="Century" panose="02040604050505020304" pitchFamily="18" charset="0"/>
                      </a:endParaRPr>
                    </a:p>
                  </a:txBody>
                  <a:tcPr marL="68580" marR="68580" marT="0" marB="0"/>
                </a:tc>
                <a:tc>
                  <a:txBody>
                    <a:bodyPr/>
                    <a:lstStyle/>
                    <a:p>
                      <a:pPr marL="38100" marR="0" indent="0" algn="ctr">
                        <a:lnSpc>
                          <a:spcPct val="107000"/>
                        </a:lnSpc>
                        <a:spcBef>
                          <a:spcPts val="0"/>
                        </a:spcBef>
                        <a:spcAft>
                          <a:spcPts val="0"/>
                        </a:spcAft>
                      </a:pPr>
                      <a:r>
                        <a:rPr lang="en-US" sz="1600" dirty="0">
                          <a:effectLst/>
                        </a:rPr>
                        <a:t>89.80</a:t>
                      </a:r>
                      <a:endParaRPr lang="en-US" sz="1600" dirty="0">
                        <a:solidFill>
                          <a:srgbClr val="000000"/>
                        </a:solidFill>
                        <a:effectLst/>
                        <a:latin typeface="Century" panose="02040604050505020304" pitchFamily="18" charset="0"/>
                        <a:ea typeface="Century" panose="02040604050505020304" pitchFamily="18" charset="0"/>
                        <a:cs typeface="Century" panose="02040604050505020304" pitchFamily="18" charset="0"/>
                      </a:endParaRPr>
                    </a:p>
                  </a:txBody>
                  <a:tcPr marL="68580" marR="68580" marT="0" marB="0"/>
                </a:tc>
                <a:tc>
                  <a:txBody>
                    <a:bodyPr/>
                    <a:lstStyle/>
                    <a:p>
                      <a:pPr marL="38100" marR="0" indent="0" algn="ctr">
                        <a:lnSpc>
                          <a:spcPct val="107000"/>
                        </a:lnSpc>
                        <a:spcBef>
                          <a:spcPts val="0"/>
                        </a:spcBef>
                        <a:spcAft>
                          <a:spcPts val="0"/>
                        </a:spcAft>
                      </a:pPr>
                      <a:r>
                        <a:rPr lang="en-US" sz="1600">
                          <a:effectLst/>
                        </a:rPr>
                        <a:t>88.50</a:t>
                      </a:r>
                      <a:endParaRPr lang="en-US" sz="1600">
                        <a:solidFill>
                          <a:srgbClr val="000000"/>
                        </a:solidFill>
                        <a:effectLst/>
                        <a:latin typeface="Century" panose="02040604050505020304" pitchFamily="18" charset="0"/>
                        <a:ea typeface="Century" panose="02040604050505020304" pitchFamily="18" charset="0"/>
                        <a:cs typeface="Century" panose="02040604050505020304" pitchFamily="18" charset="0"/>
                      </a:endParaRPr>
                    </a:p>
                  </a:txBody>
                  <a:tcPr marL="68580" marR="68580" marT="0" marB="0"/>
                </a:tc>
                <a:tc>
                  <a:txBody>
                    <a:bodyPr/>
                    <a:lstStyle/>
                    <a:p>
                      <a:pPr marL="38100" marR="0" indent="0" algn="ctr">
                        <a:lnSpc>
                          <a:spcPct val="107000"/>
                        </a:lnSpc>
                        <a:spcBef>
                          <a:spcPts val="0"/>
                        </a:spcBef>
                        <a:spcAft>
                          <a:spcPts val="0"/>
                        </a:spcAft>
                      </a:pPr>
                      <a:r>
                        <a:rPr lang="en-US" sz="1600" dirty="0">
                          <a:effectLst/>
                        </a:rPr>
                        <a:t>89.14</a:t>
                      </a:r>
                      <a:endParaRPr lang="en-US" sz="1600" dirty="0">
                        <a:solidFill>
                          <a:srgbClr val="000000"/>
                        </a:solidFill>
                        <a:effectLst/>
                        <a:latin typeface="Century" panose="02040604050505020304" pitchFamily="18" charset="0"/>
                        <a:ea typeface="Century" panose="02040604050505020304" pitchFamily="18" charset="0"/>
                        <a:cs typeface="Century" panose="02040604050505020304" pitchFamily="18" charset="0"/>
                      </a:endParaRPr>
                    </a:p>
                  </a:txBody>
                  <a:tcPr marL="68580" marR="68580" marT="0" marB="0"/>
                </a:tc>
                <a:extLst>
                  <a:ext uri="{0D108BD9-81ED-4DB2-BD59-A6C34878D82A}">
                    <a16:rowId xmlns:a16="http://schemas.microsoft.com/office/drawing/2014/main" val="3858840908"/>
                  </a:ext>
                </a:extLst>
              </a:tr>
            </a:tbl>
          </a:graphicData>
        </a:graphic>
      </p:graphicFrame>
    </p:spTree>
    <p:extLst>
      <p:ext uri="{BB962C8B-B14F-4D97-AF65-F5344CB8AC3E}">
        <p14:creationId xmlns:p14="http://schemas.microsoft.com/office/powerpoint/2010/main" val="1659567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19151-EE65-F867-548A-B5254C265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EC504-1BCF-FA96-37EA-488F9CF51DFA}"/>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8C1A6456-7733-64E4-CE7E-587E40E8F8DC}"/>
              </a:ext>
            </a:extLst>
          </p:cNvPr>
          <p:cNvSpPr>
            <a:spLocks noGrp="1"/>
          </p:cNvSpPr>
          <p:nvPr>
            <p:ph type="sldNum" sz="quarter" idx="16"/>
          </p:nvPr>
        </p:nvSpPr>
        <p:spPr>
          <a:xfrm>
            <a:off x="9347200" y="6017676"/>
            <a:ext cx="2844800" cy="365125"/>
          </a:xfrm>
        </p:spPr>
        <p:txBody>
          <a:bodyPr/>
          <a:lstStyle/>
          <a:p>
            <a:pPr>
              <a:defRPr/>
            </a:pPr>
            <a:fld id="{4CD333A3-7515-47B8-9EDC-EE0892D9C861}" type="slidenum">
              <a:rPr lang="en-US" smtClean="0"/>
              <a:pPr>
                <a:defRPr/>
              </a:pPr>
              <a:t>10</a:t>
            </a:fld>
            <a:endParaRPr lang="en-US" dirty="0"/>
          </a:p>
        </p:txBody>
      </p:sp>
      <p:sp>
        <p:nvSpPr>
          <p:cNvPr id="5" name="TextBox 4">
            <a:extLst>
              <a:ext uri="{FF2B5EF4-FFF2-40B4-BE49-F238E27FC236}">
                <a16:creationId xmlns:a16="http://schemas.microsoft.com/office/drawing/2014/main" id="{F6B14FC1-F67E-8203-7D5B-416E642361A4}"/>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6" name="TextBox 5">
            <a:extLst>
              <a:ext uri="{FF2B5EF4-FFF2-40B4-BE49-F238E27FC236}">
                <a16:creationId xmlns:a16="http://schemas.microsoft.com/office/drawing/2014/main" id="{D40BFD56-2E99-E912-D8A9-29A6DFF78365}"/>
              </a:ext>
            </a:extLst>
          </p:cNvPr>
          <p:cNvSpPr txBox="1"/>
          <p:nvPr/>
        </p:nvSpPr>
        <p:spPr>
          <a:xfrm>
            <a:off x="6179038" y="1423335"/>
            <a:ext cx="5403362" cy="3416320"/>
          </a:xfrm>
          <a:prstGeom prst="rect">
            <a:avLst/>
          </a:prstGeom>
          <a:noFill/>
        </p:spPr>
        <p:txBody>
          <a:bodyPr wrap="square" rtlCol="0">
            <a:spAutoFit/>
          </a:bodyPr>
          <a:lstStyle/>
          <a:p>
            <a:r>
              <a:rPr lang="en-US" b="1" dirty="0">
                <a:latin typeface="Times New Roman"/>
                <a:cs typeface="Arial"/>
              </a:rPr>
              <a:t>ROC Curve </a:t>
            </a:r>
            <a:r>
              <a:rPr lang="en-US" b="1" dirty="0" smtClean="0">
                <a:latin typeface="Times New Roman"/>
                <a:cs typeface="Arial"/>
              </a:rPr>
              <a:t>Insights</a:t>
            </a:r>
          </a:p>
          <a:p>
            <a:endParaRPr lang="en-US" b="1" dirty="0" smtClean="0">
              <a:latin typeface="Times New Roman"/>
              <a:cs typeface="Arial"/>
            </a:endParaRPr>
          </a:p>
          <a:p>
            <a:pPr marL="285750" indent="-285750" algn="just">
              <a:buFont typeface="Wingdings" panose="05000000000000000000" pitchFamily="2" charset="2"/>
              <a:buChar char="Ø"/>
            </a:pPr>
            <a:r>
              <a:rPr lang="en-US" dirty="0" smtClean="0">
                <a:latin typeface="Times New Roman"/>
                <a:cs typeface="Arial"/>
              </a:rPr>
              <a:t>The </a:t>
            </a:r>
            <a:r>
              <a:rPr lang="en-US" dirty="0">
                <a:latin typeface="Times New Roman"/>
                <a:cs typeface="Arial"/>
              </a:rPr>
              <a:t>ROC curve indicates excellent model performance across all waste classes</a:t>
            </a:r>
            <a:r>
              <a:rPr lang="en-US" dirty="0" smtClean="0">
                <a:latin typeface="Times New Roman"/>
                <a:cs typeface="Arial"/>
              </a:rPr>
              <a:t>.</a:t>
            </a:r>
          </a:p>
          <a:p>
            <a:pPr marL="285750" indent="-285750" algn="just">
              <a:buFont typeface="Wingdings" panose="05000000000000000000" pitchFamily="2" charset="2"/>
              <a:buChar char="Ø"/>
            </a:pPr>
            <a:r>
              <a:rPr lang="en-US" dirty="0" smtClean="0">
                <a:latin typeface="Times New Roman"/>
                <a:cs typeface="Arial"/>
              </a:rPr>
              <a:t>All </a:t>
            </a:r>
            <a:r>
              <a:rPr lang="en-US" dirty="0">
                <a:latin typeface="Times New Roman"/>
                <a:cs typeface="Arial"/>
              </a:rPr>
              <a:t>class curves remain close to the top-left region, meaning high true positive rates</a:t>
            </a:r>
            <a:r>
              <a:rPr lang="en-US" dirty="0" smtClean="0">
                <a:latin typeface="Times New Roman"/>
                <a:cs typeface="Arial"/>
              </a:rPr>
              <a:t>.</a:t>
            </a:r>
          </a:p>
          <a:p>
            <a:pPr marL="285750" indent="-285750" algn="just">
              <a:buFont typeface="Wingdings" panose="05000000000000000000" pitchFamily="2" charset="2"/>
              <a:buChar char="Ø"/>
            </a:pPr>
            <a:r>
              <a:rPr lang="en-US" dirty="0" smtClean="0">
                <a:latin typeface="Times New Roman"/>
                <a:cs typeface="Arial"/>
              </a:rPr>
              <a:t>AUC </a:t>
            </a:r>
            <a:r>
              <a:rPr lang="en-US" dirty="0">
                <a:latin typeface="Times New Roman"/>
                <a:cs typeface="Arial"/>
              </a:rPr>
              <a:t>values between 0.98–1.00 show very strong discriminative ability</a:t>
            </a:r>
            <a:r>
              <a:rPr lang="en-US" dirty="0" smtClean="0">
                <a:latin typeface="Times New Roman"/>
                <a:cs typeface="Arial"/>
              </a:rPr>
              <a:t>.</a:t>
            </a:r>
          </a:p>
          <a:p>
            <a:pPr marL="285750" indent="-285750" algn="just">
              <a:buFont typeface="Wingdings" panose="05000000000000000000" pitchFamily="2" charset="2"/>
              <a:buChar char="Ø"/>
            </a:pPr>
            <a:r>
              <a:rPr lang="en-US" dirty="0" smtClean="0">
                <a:latin typeface="Times New Roman"/>
                <a:cs typeface="Arial"/>
              </a:rPr>
              <a:t>The </a:t>
            </a:r>
            <a:r>
              <a:rPr lang="en-US" dirty="0">
                <a:latin typeface="Times New Roman"/>
                <a:cs typeface="Arial"/>
              </a:rPr>
              <a:t>model reliably distinguishes Plastic, Metal, Glass, and Polithin with minimal false positives</a:t>
            </a:r>
            <a:r>
              <a:rPr lang="en-US" dirty="0" smtClean="0">
                <a:latin typeface="Times New Roman"/>
                <a:cs typeface="Arial"/>
              </a:rPr>
              <a:t>.</a:t>
            </a:r>
          </a:p>
          <a:p>
            <a:pPr marL="285750" indent="-285750" algn="just">
              <a:buFont typeface="Wingdings" panose="05000000000000000000" pitchFamily="2" charset="2"/>
              <a:buChar char="Ø"/>
            </a:pPr>
            <a:r>
              <a:rPr lang="en-US" dirty="0" smtClean="0">
                <a:latin typeface="Times New Roman"/>
                <a:cs typeface="Arial"/>
              </a:rPr>
              <a:t>Overall</a:t>
            </a:r>
            <a:r>
              <a:rPr lang="en-US" dirty="0">
                <a:latin typeface="Times New Roman"/>
                <a:cs typeface="Arial"/>
              </a:rPr>
              <a:t>, the ROC curve confirms a highly accurate and stable classification system.</a:t>
            </a:r>
            <a:endParaRPr lang="en-US" i="1" dirty="0">
              <a:latin typeface="Times New Roman"/>
              <a:cs typeface="Arial"/>
            </a:endParaRPr>
          </a:p>
        </p:txBody>
      </p:sp>
      <p:pic>
        <p:nvPicPr>
          <p:cNvPr id="7" name="Content Placeholder 4"/>
          <p:cNvPicPr>
            <a:picLocks noGrp="1" noChangeAspect="1"/>
          </p:cNvPicPr>
          <p:nvPr>
            <p:ph sz="quarter" idx="13"/>
          </p:nvPr>
        </p:nvPicPr>
        <p:blipFill>
          <a:blip r:embed="rId2"/>
          <a:stretch>
            <a:fillRect/>
          </a:stretch>
        </p:blipFill>
        <p:spPr>
          <a:xfrm>
            <a:off x="381000" y="1417638"/>
            <a:ext cx="5195276" cy="4449762"/>
          </a:xfrm>
          <a:prstGeom prst="rect">
            <a:avLst/>
          </a:prstGeom>
        </p:spPr>
      </p:pic>
    </p:spTree>
    <p:extLst>
      <p:ext uri="{BB962C8B-B14F-4D97-AF65-F5344CB8AC3E}">
        <p14:creationId xmlns:p14="http://schemas.microsoft.com/office/powerpoint/2010/main" val="3864502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A2A34-910C-52FB-12A8-FA252DB358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BF819-FC53-5253-B9E2-DE1A0CDFA8C9}"/>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Novelty of the Work</a:t>
            </a:r>
          </a:p>
        </p:txBody>
      </p:sp>
      <p:sp>
        <p:nvSpPr>
          <p:cNvPr id="4" name="Slide Number Placeholder 3">
            <a:extLst>
              <a:ext uri="{FF2B5EF4-FFF2-40B4-BE49-F238E27FC236}">
                <a16:creationId xmlns:a16="http://schemas.microsoft.com/office/drawing/2014/main" id="{1E154D71-E901-049B-93F8-CAD5BC299B06}"/>
              </a:ext>
            </a:extLst>
          </p:cNvPr>
          <p:cNvSpPr>
            <a:spLocks noGrp="1"/>
          </p:cNvSpPr>
          <p:nvPr>
            <p:ph type="sldNum" sz="quarter" idx="16"/>
          </p:nvPr>
        </p:nvSpPr>
        <p:spPr>
          <a:xfrm>
            <a:off x="9347200" y="5959475"/>
            <a:ext cx="2844800" cy="365125"/>
          </a:xfrm>
        </p:spPr>
        <p:txBody>
          <a:bodyPr/>
          <a:lstStyle/>
          <a:p>
            <a:pPr>
              <a:defRPr/>
            </a:pPr>
            <a:fld id="{4CD333A3-7515-47B8-9EDC-EE0892D9C861}" type="slidenum">
              <a:rPr lang="en-US" smtClean="0"/>
              <a:pPr>
                <a:defRPr/>
              </a:pPr>
              <a:t>11</a:t>
            </a:fld>
            <a:endParaRPr lang="en-US" dirty="0"/>
          </a:p>
        </p:txBody>
      </p:sp>
      <p:sp>
        <p:nvSpPr>
          <p:cNvPr id="3" name="TextBox 2">
            <a:extLst>
              <a:ext uri="{FF2B5EF4-FFF2-40B4-BE49-F238E27FC236}">
                <a16:creationId xmlns:a16="http://schemas.microsoft.com/office/drawing/2014/main" id="{BD882494-1CF7-C6C6-FB3F-1E5CF30DAEEF}"/>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6" name="TextBox 5">
            <a:extLst>
              <a:ext uri="{FF2B5EF4-FFF2-40B4-BE49-F238E27FC236}">
                <a16:creationId xmlns:a16="http://schemas.microsoft.com/office/drawing/2014/main" id="{063DB2A2-1970-7C33-0471-06B5210B894A}"/>
              </a:ext>
            </a:extLst>
          </p:cNvPr>
          <p:cNvSpPr txBox="1"/>
          <p:nvPr/>
        </p:nvSpPr>
        <p:spPr>
          <a:xfrm>
            <a:off x="685800" y="1600200"/>
            <a:ext cx="5878286"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Wingdings"/>
              <a:buChar char="Ø"/>
            </a:pPr>
            <a:r>
              <a:rPr lang="en-US" dirty="0">
                <a:latin typeface="Times New Roman"/>
              </a:rPr>
              <a:t>Hybrid Approach: Integration of classification models (MobileNetV2, ResNet50, EfficientNet) with YOLOv3 detection for both single-object and multi-object waste recognition</a:t>
            </a:r>
            <a:r>
              <a:rPr lang="en-US" dirty="0" smtClean="0">
                <a:latin typeface="Times New Roman"/>
              </a:rPr>
              <a:t>.</a:t>
            </a:r>
          </a:p>
          <a:p>
            <a:pPr marL="285750" indent="-285750" algn="just">
              <a:buFont typeface="Wingdings"/>
              <a:buChar char="Ø"/>
            </a:pPr>
            <a:r>
              <a:rPr lang="en-US" dirty="0" smtClean="0">
                <a:latin typeface="Times New Roman"/>
              </a:rPr>
              <a:t>Real-World </a:t>
            </a:r>
            <a:r>
              <a:rPr lang="en-US" dirty="0">
                <a:latin typeface="Times New Roman"/>
              </a:rPr>
              <a:t>Dataset: A custom dataset of 3000+ images, including self-captured images with diverse lighting and background conditions</a:t>
            </a:r>
            <a:r>
              <a:rPr lang="en-US" dirty="0" smtClean="0">
                <a:latin typeface="Times New Roman"/>
              </a:rPr>
              <a:t>.</a:t>
            </a:r>
          </a:p>
          <a:p>
            <a:pPr marL="285750" indent="-285750" algn="just">
              <a:buFont typeface="Wingdings"/>
              <a:buChar char="Ø"/>
            </a:pPr>
            <a:r>
              <a:rPr lang="en-US" dirty="0" smtClean="0">
                <a:latin typeface="Times New Roman"/>
              </a:rPr>
              <a:t>High </a:t>
            </a:r>
            <a:r>
              <a:rPr lang="en-US" dirty="0">
                <a:latin typeface="Times New Roman"/>
              </a:rPr>
              <a:t>Accuracy: Achieved 89.12% accuracy with EfficientNetB1, outperforming many existing systems</a:t>
            </a:r>
            <a:r>
              <a:rPr lang="en-US" dirty="0" smtClean="0">
                <a:latin typeface="Times New Roman"/>
              </a:rPr>
              <a:t>.</a:t>
            </a:r>
          </a:p>
          <a:p>
            <a:pPr marL="285750" indent="-285750" algn="just">
              <a:buFont typeface="Wingdings"/>
              <a:buChar char="Ø"/>
            </a:pPr>
            <a:r>
              <a:rPr lang="en-US" dirty="0" smtClean="0">
                <a:latin typeface="Times New Roman"/>
              </a:rPr>
              <a:t>Scalable </a:t>
            </a:r>
            <a:r>
              <a:rPr lang="en-US" dirty="0">
                <a:latin typeface="Times New Roman"/>
              </a:rPr>
              <a:t>Design: The system can be extended to new waste categories and deployed on low-power edge devices (</a:t>
            </a:r>
            <a:r>
              <a:rPr lang="en-US" dirty="0" err="1">
                <a:latin typeface="Times New Roman"/>
              </a:rPr>
              <a:t>MobileNet</a:t>
            </a:r>
            <a:r>
              <a:rPr lang="en-US" dirty="0">
                <a:latin typeface="Times New Roman"/>
              </a:rPr>
              <a:t>/ EfficientNet support).</a:t>
            </a:r>
          </a:p>
        </p:txBody>
      </p:sp>
      <p:pic>
        <p:nvPicPr>
          <p:cNvPr id="8" name="Picture 7">
            <a:extLst>
              <a:ext uri="{FF2B5EF4-FFF2-40B4-BE49-F238E27FC236}">
                <a16:creationId xmlns:a16="http://schemas.microsoft.com/office/drawing/2014/main" id="{80E054C2-85DB-630D-D115-56022C3C94DA}"/>
              </a:ext>
            </a:extLst>
          </p:cNvPr>
          <p:cNvPicPr>
            <a:picLocks noChangeAspect="1"/>
          </p:cNvPicPr>
          <p:nvPr/>
        </p:nvPicPr>
        <p:blipFill>
          <a:blip r:embed="rId2"/>
          <a:stretch>
            <a:fillRect/>
          </a:stretch>
        </p:blipFill>
        <p:spPr>
          <a:xfrm>
            <a:off x="6829184" y="1075763"/>
            <a:ext cx="5026640" cy="4956204"/>
          </a:xfrm>
          <a:prstGeom prst="rect">
            <a:avLst/>
          </a:prstGeom>
        </p:spPr>
      </p:pic>
    </p:spTree>
    <p:extLst>
      <p:ext uri="{BB962C8B-B14F-4D97-AF65-F5344CB8AC3E}">
        <p14:creationId xmlns:p14="http://schemas.microsoft.com/office/powerpoint/2010/main" val="9202743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ED34C-F2CE-1904-46F5-88AEBCFDCB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68F151-7ED2-C606-99FB-D15E7A10395B}"/>
              </a:ext>
            </a:extLst>
          </p:cNvPr>
          <p:cNvSpPr>
            <a:spLocks noGrp="1"/>
          </p:cNvSpPr>
          <p:nvPr>
            <p:ph type="title"/>
          </p:nvPr>
        </p:nvSpPr>
        <p:spPr>
          <a:xfrm>
            <a:off x="1371600" y="350838"/>
            <a:ext cx="9448800" cy="868362"/>
          </a:xfrm>
        </p:spPr>
        <p:txBody>
          <a:bodyPr>
            <a:normAutofit/>
          </a:bodyPr>
          <a:lstStyle/>
          <a:p>
            <a:r>
              <a:rPr lang="en-US" dirty="0">
                <a:solidFill>
                  <a:srgbClr val="7030A0"/>
                </a:solidFill>
                <a:latin typeface="Times New Roman" pitchFamily="18" charset="0"/>
                <a:cs typeface="Times New Roman" pitchFamily="18" charset="0"/>
              </a:rPr>
              <a:t>Sample dataset</a:t>
            </a:r>
          </a:p>
        </p:txBody>
      </p:sp>
      <p:sp>
        <p:nvSpPr>
          <p:cNvPr id="4" name="Slide Number Placeholder 3">
            <a:extLst>
              <a:ext uri="{FF2B5EF4-FFF2-40B4-BE49-F238E27FC236}">
                <a16:creationId xmlns:a16="http://schemas.microsoft.com/office/drawing/2014/main" id="{1411460F-2BC7-EBFF-8ED1-489F5E220AB5}"/>
              </a:ext>
            </a:extLst>
          </p:cNvPr>
          <p:cNvSpPr>
            <a:spLocks noGrp="1"/>
          </p:cNvSpPr>
          <p:nvPr>
            <p:ph type="sldNum" sz="quarter" idx="16"/>
          </p:nvPr>
        </p:nvSpPr>
        <p:spPr>
          <a:xfrm>
            <a:off x="9341104" y="6019800"/>
            <a:ext cx="2844800" cy="365125"/>
          </a:xfrm>
        </p:spPr>
        <p:txBody>
          <a:bodyPr/>
          <a:lstStyle/>
          <a:p>
            <a:pPr>
              <a:defRPr/>
            </a:pPr>
            <a:fld id="{4CD333A3-7515-47B8-9EDC-EE0892D9C861}" type="slidenum">
              <a:rPr lang="en-US" smtClean="0"/>
              <a:pPr>
                <a:defRPr/>
              </a:pPr>
              <a:t>12</a:t>
            </a:fld>
            <a:endParaRPr lang="en-US" dirty="0"/>
          </a:p>
        </p:txBody>
      </p:sp>
      <p:sp>
        <p:nvSpPr>
          <p:cNvPr id="3" name="TextBox 2">
            <a:extLst>
              <a:ext uri="{FF2B5EF4-FFF2-40B4-BE49-F238E27FC236}">
                <a16:creationId xmlns:a16="http://schemas.microsoft.com/office/drawing/2014/main" id="{0F501D11-526D-F3D4-2D04-828C5DF8BC5F}"/>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pic>
        <p:nvPicPr>
          <p:cNvPr id="5" name="Content Placeholder 4"/>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609600" y="1127919"/>
            <a:ext cx="5181600" cy="2377281"/>
          </a:xfr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57900" y="1127919"/>
            <a:ext cx="5029200" cy="2377281"/>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3505200"/>
            <a:ext cx="4953000" cy="2590800"/>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33352" y="3635375"/>
            <a:ext cx="4953747" cy="2460625"/>
          </a:xfrm>
          <a:prstGeom prst="rect">
            <a:avLst/>
          </a:prstGeom>
        </p:spPr>
      </p:pic>
    </p:spTree>
    <p:extLst>
      <p:ext uri="{BB962C8B-B14F-4D97-AF65-F5344CB8AC3E}">
        <p14:creationId xmlns:p14="http://schemas.microsoft.com/office/powerpoint/2010/main" val="41929273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ACCF1-4663-0FAC-E557-C8C860184D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DB699C-3280-7E27-A53B-6B90D91ADB53}"/>
              </a:ext>
            </a:extLst>
          </p:cNvPr>
          <p:cNvSpPr>
            <a:spLocks noGrp="1"/>
          </p:cNvSpPr>
          <p:nvPr>
            <p:ph type="title"/>
          </p:nvPr>
        </p:nvSpPr>
        <p:spPr>
          <a:xfrm>
            <a:off x="1638298" y="76200"/>
            <a:ext cx="8915400" cy="868362"/>
          </a:xfrm>
        </p:spPr>
        <p:txBody>
          <a:bodyPr>
            <a:normAutofit fontScale="90000"/>
          </a:bodyPr>
          <a:lstStyle/>
          <a:p>
            <a:r>
              <a:rPr lang="en-US" dirty="0">
                <a:solidFill>
                  <a:srgbClr val="7030A0"/>
                </a:solidFill>
                <a:latin typeface="Times New Roman" panose="02020603050405020304" pitchFamily="18" charset="0"/>
                <a:cs typeface="Times New Roman" panose="02020603050405020304" pitchFamily="18" charset="0"/>
              </a:rPr>
              <a:t>Web Interface </a:t>
            </a:r>
            <a:r>
              <a:rPr lang="en-US" dirty="0" smtClean="0">
                <a:solidFill>
                  <a:srgbClr val="7030A0"/>
                </a:solidFill>
                <a:latin typeface="Times New Roman" panose="02020603050405020304" pitchFamily="18" charset="0"/>
                <a:cs typeface="Times New Roman" panose="02020603050405020304" pitchFamily="18" charset="0"/>
              </a:rPr>
              <a:t>of Waste Classification </a:t>
            </a:r>
            <a:endParaRPr lang="en-US" dirty="0">
              <a:solidFill>
                <a:srgbClr val="7030A0"/>
              </a:solidFill>
            </a:endParaRPr>
          </a:p>
        </p:txBody>
      </p:sp>
      <p:sp>
        <p:nvSpPr>
          <p:cNvPr id="4" name="Slide Number Placeholder 3">
            <a:extLst>
              <a:ext uri="{FF2B5EF4-FFF2-40B4-BE49-F238E27FC236}">
                <a16:creationId xmlns:a16="http://schemas.microsoft.com/office/drawing/2014/main" id="{8D521EDD-A921-29EF-524A-2EBB5538B25A}"/>
              </a:ext>
            </a:extLst>
          </p:cNvPr>
          <p:cNvSpPr>
            <a:spLocks noGrp="1"/>
          </p:cNvSpPr>
          <p:nvPr>
            <p:ph type="sldNum" sz="quarter" idx="16"/>
          </p:nvPr>
        </p:nvSpPr>
        <p:spPr>
          <a:xfrm>
            <a:off x="9347200" y="5959475"/>
            <a:ext cx="2844800" cy="365125"/>
          </a:xfrm>
        </p:spPr>
        <p:txBody>
          <a:bodyPr/>
          <a:lstStyle/>
          <a:p>
            <a:pPr>
              <a:defRPr/>
            </a:pPr>
            <a:fld id="{4CD333A3-7515-47B8-9EDC-EE0892D9C861}" type="slidenum">
              <a:rPr lang="en-US" smtClean="0"/>
              <a:pPr>
                <a:defRPr/>
              </a:pPr>
              <a:t>13</a:t>
            </a:fld>
            <a:endParaRPr lang="en-US" dirty="0"/>
          </a:p>
        </p:txBody>
      </p:sp>
      <p:sp>
        <p:nvSpPr>
          <p:cNvPr id="3" name="TextBox 2">
            <a:extLst>
              <a:ext uri="{FF2B5EF4-FFF2-40B4-BE49-F238E27FC236}">
                <a16:creationId xmlns:a16="http://schemas.microsoft.com/office/drawing/2014/main" id="{C6A89BB2-DBB6-BF76-BA68-3DFF2884AD82}"/>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1447800"/>
            <a:ext cx="4590789" cy="3690107"/>
          </a:xfrm>
          <a:prstGeom prst="rect">
            <a:avLst/>
          </a:prstGeom>
        </p:spPr>
      </p:pic>
      <p:pic>
        <p:nvPicPr>
          <p:cNvPr id="9" name="Picture 8"/>
          <p:cNvPicPr>
            <a:picLocks noChangeAspect="1"/>
          </p:cNvPicPr>
          <p:nvPr/>
        </p:nvPicPr>
        <p:blipFill>
          <a:blip r:embed="rId3"/>
          <a:stretch>
            <a:fillRect/>
          </a:stretch>
        </p:blipFill>
        <p:spPr>
          <a:xfrm>
            <a:off x="6324600" y="1447799"/>
            <a:ext cx="4953000" cy="3690107"/>
          </a:xfrm>
          <a:prstGeom prst="rect">
            <a:avLst/>
          </a:prstGeom>
        </p:spPr>
      </p:pic>
    </p:spTree>
    <p:extLst>
      <p:ext uri="{BB962C8B-B14F-4D97-AF65-F5344CB8AC3E}">
        <p14:creationId xmlns:p14="http://schemas.microsoft.com/office/powerpoint/2010/main" val="16850711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Conclusion</a:t>
            </a:r>
            <a:endParaRPr lang="en-US" dirty="0">
              <a:solidFill>
                <a:srgbClr val="7030A0"/>
              </a:solidFill>
            </a:endParaRPr>
          </a:p>
        </p:txBody>
      </p:sp>
      <p:sp>
        <p:nvSpPr>
          <p:cNvPr id="4" name="Slide Number Placeholder 3"/>
          <p:cNvSpPr>
            <a:spLocks noGrp="1"/>
          </p:cNvSpPr>
          <p:nvPr>
            <p:ph type="sldNum" sz="quarter" idx="16"/>
          </p:nvPr>
        </p:nvSpPr>
        <p:spPr>
          <a:xfrm>
            <a:off x="9347200" y="5959475"/>
            <a:ext cx="2844800" cy="365125"/>
          </a:xfrm>
        </p:spPr>
        <p:txBody>
          <a:bodyPr/>
          <a:lstStyle/>
          <a:p>
            <a:pPr>
              <a:defRPr/>
            </a:pPr>
            <a:fld id="{4CD333A3-7515-47B8-9EDC-EE0892D9C861}" type="slidenum">
              <a:rPr lang="en-US" smtClean="0"/>
              <a:pPr>
                <a:defRPr/>
              </a:pPr>
              <a:t>14</a:t>
            </a:fld>
            <a:endParaRPr lang="en-US" dirty="0"/>
          </a:p>
        </p:txBody>
      </p:sp>
      <p:sp>
        <p:nvSpPr>
          <p:cNvPr id="5" name="TextBox 4">
            <a:extLst>
              <a:ext uri="{FF2B5EF4-FFF2-40B4-BE49-F238E27FC236}">
                <a16:creationId xmlns:a16="http://schemas.microsoft.com/office/drawing/2014/main" id="{19B37B8D-F57A-2BA3-3A76-E3DD8C73097F}"/>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6" name="Content Placeholder 2"/>
          <p:cNvSpPr>
            <a:spLocks noGrp="1"/>
          </p:cNvSpPr>
          <p:nvPr>
            <p:ph sz="quarter" idx="13"/>
          </p:nvPr>
        </p:nvSpPr>
        <p:spPr>
          <a:xfrm>
            <a:off x="712694" y="1458685"/>
            <a:ext cx="5452463" cy="4332515"/>
          </a:xfrm>
        </p:spPr>
        <p:txBody>
          <a:bodyPr vert="horz" lIns="91440" tIns="45720" rIns="91440" bIns="45720" rtlCol="0" anchor="t">
            <a:normAutofit/>
          </a:bodyPr>
          <a:lstStyle/>
          <a:p>
            <a:pPr marL="0" indent="0" algn="just">
              <a:buNone/>
            </a:pPr>
            <a:r>
              <a:rPr lang="en-US" sz="1800" dirty="0">
                <a:solidFill>
                  <a:schemeClr val="tx1"/>
                </a:solidFill>
                <a:latin typeface="Times New Roman"/>
                <a:ea typeface="+mn-lt"/>
                <a:cs typeface="+mn-lt"/>
              </a:rPr>
              <a:t>This project successfully developed an AI-based waste classification system capable of identifying and detecting multiple waste categories using deep learning. The system demonstrates strong potential for real-world deployment in smart waste management and recycling environments</a:t>
            </a:r>
            <a:r>
              <a:rPr lang="en-US" sz="1800" dirty="0" smtClean="0">
                <a:solidFill>
                  <a:schemeClr val="tx1"/>
                </a:solidFill>
                <a:latin typeface="Times New Roman"/>
                <a:ea typeface="+mn-lt"/>
                <a:cs typeface="+mn-lt"/>
              </a:rPr>
              <a:t>.</a:t>
            </a:r>
          </a:p>
          <a:p>
            <a:pPr marL="0" indent="0" algn="just">
              <a:buNone/>
            </a:pPr>
            <a:endParaRPr lang="en-US" sz="2200" dirty="0">
              <a:solidFill>
                <a:schemeClr val="tx1"/>
              </a:solidFill>
              <a:latin typeface="Times New Roman"/>
              <a:ea typeface="+mn-lt"/>
              <a:cs typeface="+mn-lt"/>
            </a:endParaRPr>
          </a:p>
          <a:p>
            <a:pPr algn="just">
              <a:buFont typeface="Wingdings" panose="05000000000000000000" pitchFamily="2" charset="2"/>
              <a:buChar char="Ø"/>
            </a:pPr>
            <a:r>
              <a:rPr lang="en-US" sz="1600" dirty="0">
                <a:solidFill>
                  <a:schemeClr val="tx1"/>
                </a:solidFill>
                <a:latin typeface="Times New Roman"/>
                <a:ea typeface="Calibri"/>
                <a:cs typeface="Calibri"/>
              </a:rPr>
              <a:t>Successfully built a dataset of 3000+ waste images across four categories</a:t>
            </a:r>
            <a:r>
              <a:rPr lang="en-US" sz="1600" dirty="0" smtClean="0">
                <a:solidFill>
                  <a:schemeClr val="tx1"/>
                </a:solidFill>
                <a:latin typeface="Times New Roman"/>
                <a:ea typeface="Calibri"/>
                <a:cs typeface="Calibri"/>
              </a:rPr>
              <a:t>.</a:t>
            </a:r>
          </a:p>
          <a:p>
            <a:pPr algn="just">
              <a:buFont typeface="Wingdings" panose="05000000000000000000" pitchFamily="2" charset="2"/>
              <a:buChar char="Ø"/>
            </a:pPr>
            <a:r>
              <a:rPr lang="en-US" sz="1600" dirty="0" smtClean="0">
                <a:solidFill>
                  <a:schemeClr val="tx1"/>
                </a:solidFill>
                <a:latin typeface="Times New Roman"/>
                <a:ea typeface="Calibri"/>
                <a:cs typeface="Calibri"/>
              </a:rPr>
              <a:t>Implemented multiple ML </a:t>
            </a:r>
            <a:r>
              <a:rPr lang="en-US" sz="1600" dirty="0">
                <a:solidFill>
                  <a:schemeClr val="tx1"/>
                </a:solidFill>
                <a:latin typeface="Times New Roman"/>
                <a:ea typeface="Calibri"/>
                <a:cs typeface="Calibri"/>
              </a:rPr>
              <a:t>models, where EfficientNetB1 achieved highest accuracy (89.12%). </a:t>
            </a:r>
            <a:endParaRPr lang="en-US" sz="1600" dirty="0" smtClean="0">
              <a:solidFill>
                <a:schemeClr val="tx1"/>
              </a:solidFill>
              <a:latin typeface="Times New Roman"/>
              <a:ea typeface="Calibri"/>
              <a:cs typeface="Calibri"/>
            </a:endParaRPr>
          </a:p>
          <a:p>
            <a:pPr algn="just">
              <a:buFont typeface="Wingdings" panose="05000000000000000000" pitchFamily="2" charset="2"/>
              <a:buChar char="Ø"/>
            </a:pPr>
            <a:r>
              <a:rPr lang="en-US" sz="1600" dirty="0" smtClean="0">
                <a:solidFill>
                  <a:schemeClr val="tx1"/>
                </a:solidFill>
                <a:latin typeface="Times New Roman"/>
                <a:ea typeface="Calibri"/>
                <a:cs typeface="Calibri"/>
              </a:rPr>
              <a:t>Demonstrates </a:t>
            </a:r>
            <a:r>
              <a:rPr lang="en-US" sz="1600" dirty="0">
                <a:solidFill>
                  <a:schemeClr val="tx1"/>
                </a:solidFill>
                <a:latin typeface="Times New Roman"/>
                <a:ea typeface="Calibri"/>
                <a:cs typeface="Calibri"/>
              </a:rPr>
              <a:t>potential to reduce manual labor, improve recycling, and support environmental sustainability.</a:t>
            </a:r>
          </a:p>
          <a:p>
            <a:pPr algn="just">
              <a:buFont typeface="Wingdings" panose="05000000000000000000" pitchFamily="2" charset="2"/>
              <a:buChar char="Ø"/>
            </a:pPr>
            <a:endParaRPr lang="en-US" sz="1600" dirty="0" smtClean="0">
              <a:solidFill>
                <a:schemeClr val="tx1"/>
              </a:solidFill>
              <a:latin typeface="Times New Roman"/>
              <a:ea typeface="Calibri"/>
              <a:cs typeface="Calibri"/>
            </a:endParaRPr>
          </a:p>
          <a:p>
            <a:pPr marL="0" indent="0" algn="just">
              <a:buNone/>
            </a:pPr>
            <a:endParaRPr lang="en-US" sz="1900" dirty="0">
              <a:solidFill>
                <a:schemeClr val="tx1"/>
              </a:solidFill>
              <a:latin typeface="Times New Roman"/>
              <a:ea typeface="Calibri"/>
              <a:cs typeface="Calibri"/>
            </a:endParaRPr>
          </a:p>
          <a:p>
            <a:pPr marL="0" indent="0" algn="just">
              <a:buNone/>
            </a:pPr>
            <a:endParaRPr lang="en-US" sz="1900" dirty="0">
              <a:solidFill>
                <a:schemeClr val="tx1"/>
              </a:solidFill>
              <a:latin typeface="Times New Roman"/>
              <a:ea typeface="Calibri"/>
              <a:cs typeface="Calibri"/>
            </a:endParaRPr>
          </a:p>
        </p:txBody>
      </p:sp>
      <p:pic>
        <p:nvPicPr>
          <p:cNvPr id="8" name="Picture 7" descr="A blue background with a light bulb and a piece of paper&#10;&#10;AI-generated content may be incorrect.">
            <a:extLst>
              <a:ext uri="{FF2B5EF4-FFF2-40B4-BE49-F238E27FC236}">
                <a16:creationId xmlns:a16="http://schemas.microsoft.com/office/drawing/2014/main" id="{9C166291-9EDD-69DA-E3B0-AF8E7BCC9373}"/>
              </a:ext>
            </a:extLst>
          </p:cNvPr>
          <p:cNvPicPr>
            <a:picLocks noChangeAspect="1"/>
          </p:cNvPicPr>
          <p:nvPr/>
        </p:nvPicPr>
        <p:blipFill>
          <a:blip r:embed="rId2"/>
          <a:stretch>
            <a:fillRect/>
          </a:stretch>
        </p:blipFill>
        <p:spPr>
          <a:xfrm>
            <a:off x="6585856" y="1030940"/>
            <a:ext cx="5173917" cy="5173917"/>
          </a:xfrm>
          <a:prstGeom prst="rect">
            <a:avLst/>
          </a:prstGeom>
        </p:spPr>
      </p:pic>
    </p:spTree>
    <p:extLst>
      <p:ext uri="{BB962C8B-B14F-4D97-AF65-F5344CB8AC3E}">
        <p14:creationId xmlns:p14="http://schemas.microsoft.com/office/powerpoint/2010/main" val="2873705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BAAE9-3B4C-FCEC-50FC-12FB4062A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01CA16-AE0D-D369-FE42-59C7313CB16E}"/>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References</a:t>
            </a:r>
            <a:endParaRPr lang="en-US" dirty="0">
              <a:solidFill>
                <a:srgbClr val="7030A0"/>
              </a:solidFill>
            </a:endParaRPr>
          </a:p>
        </p:txBody>
      </p:sp>
      <p:sp>
        <p:nvSpPr>
          <p:cNvPr id="4" name="Slide Number Placeholder 3">
            <a:extLst>
              <a:ext uri="{FF2B5EF4-FFF2-40B4-BE49-F238E27FC236}">
                <a16:creationId xmlns:a16="http://schemas.microsoft.com/office/drawing/2014/main" id="{F97097F1-FADA-324C-E90E-73FFCAEF9034}"/>
              </a:ext>
            </a:extLst>
          </p:cNvPr>
          <p:cNvSpPr>
            <a:spLocks noGrp="1"/>
          </p:cNvSpPr>
          <p:nvPr>
            <p:ph type="sldNum" sz="quarter" idx="16"/>
          </p:nvPr>
        </p:nvSpPr>
        <p:spPr>
          <a:xfrm>
            <a:off x="9347200" y="5959475"/>
            <a:ext cx="2844800" cy="365125"/>
          </a:xfrm>
        </p:spPr>
        <p:txBody>
          <a:bodyPr/>
          <a:lstStyle/>
          <a:p>
            <a:pPr>
              <a:defRPr/>
            </a:pPr>
            <a:fld id="{4CD333A3-7515-47B8-9EDC-EE0892D9C861}" type="slidenum">
              <a:rPr lang="en-US" smtClean="0"/>
              <a:pPr>
                <a:defRPr/>
              </a:pPr>
              <a:t>15</a:t>
            </a:fld>
            <a:endParaRPr lang="en-US" dirty="0"/>
          </a:p>
        </p:txBody>
      </p:sp>
      <p:sp>
        <p:nvSpPr>
          <p:cNvPr id="5" name="TextBox 4">
            <a:extLst>
              <a:ext uri="{FF2B5EF4-FFF2-40B4-BE49-F238E27FC236}">
                <a16:creationId xmlns:a16="http://schemas.microsoft.com/office/drawing/2014/main" id="{908FB2A1-531C-6EF4-8574-EB5912211BF6}"/>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6" name="TextBox 5">
            <a:extLst>
              <a:ext uri="{FF2B5EF4-FFF2-40B4-BE49-F238E27FC236}">
                <a16:creationId xmlns:a16="http://schemas.microsoft.com/office/drawing/2014/main" id="{75A818A4-1854-70B7-FCAA-C501CD3448A0}"/>
              </a:ext>
            </a:extLst>
          </p:cNvPr>
          <p:cNvSpPr txBox="1"/>
          <p:nvPr/>
        </p:nvSpPr>
        <p:spPr>
          <a:xfrm>
            <a:off x="762000" y="1142999"/>
            <a:ext cx="10667998"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05790" indent="-342900" algn="just">
              <a:buAutoNum type="arabicPeriod"/>
            </a:pPr>
            <a:endParaRPr lang="en-US" dirty="0"/>
          </a:p>
          <a:p>
            <a:pPr marL="605790" indent="-342900" algn="just">
              <a:buAutoNum type="arabicPeriod"/>
            </a:pPr>
            <a:r>
              <a:rPr lang="en-US" dirty="0" smtClean="0">
                <a:latin typeface="Arial"/>
                <a:cs typeface="Arial"/>
              </a:rPr>
              <a:t>Lin</a:t>
            </a:r>
            <a:r>
              <a:rPr lang="en-US" dirty="0">
                <a:latin typeface="Arial"/>
                <a:cs typeface="Arial"/>
              </a:rPr>
              <a:t>, </a:t>
            </a:r>
            <a:r>
              <a:rPr lang="en-US" dirty="0" err="1">
                <a:latin typeface="Arial"/>
                <a:cs typeface="Arial"/>
              </a:rPr>
              <a:t>Kunsen</a:t>
            </a:r>
            <a:r>
              <a:rPr lang="en-US" dirty="0">
                <a:latin typeface="Arial"/>
                <a:cs typeface="Arial"/>
              </a:rPr>
              <a:t>, et al. "Toward smarter management and recovery of municipal solid waste: A critical review on deep learning approaches." Journal of Cleaner Production 346 (2022</a:t>
            </a:r>
            <a:r>
              <a:rPr lang="en-US" dirty="0" smtClean="0">
                <a:latin typeface="Arial"/>
                <a:cs typeface="Arial"/>
              </a:rPr>
              <a:t>): 130943.</a:t>
            </a:r>
            <a:endParaRPr lang="en-US" dirty="0">
              <a:latin typeface="Arial"/>
              <a:cs typeface="Arial"/>
            </a:endParaRPr>
          </a:p>
          <a:p>
            <a:pPr marL="605790" indent="-342900" algn="just">
              <a:buAutoNum type="arabicPeriod"/>
            </a:pPr>
            <a:r>
              <a:rPr lang="en-US" dirty="0" smtClean="0">
                <a:latin typeface="Arial"/>
                <a:cs typeface="Arial"/>
              </a:rPr>
              <a:t>Jahan</a:t>
            </a:r>
            <a:r>
              <a:rPr lang="en-US" dirty="0">
                <a:latin typeface="Arial"/>
                <a:cs typeface="Arial"/>
              </a:rPr>
              <a:t>, </a:t>
            </a:r>
            <a:r>
              <a:rPr lang="en-US" dirty="0" err="1">
                <a:latin typeface="Arial"/>
                <a:cs typeface="Arial"/>
              </a:rPr>
              <a:t>Israt</a:t>
            </a:r>
            <a:r>
              <a:rPr lang="en-US" dirty="0">
                <a:latin typeface="Arial"/>
                <a:cs typeface="Arial"/>
              </a:rPr>
              <a:t>, et al. "Deep Learning-Driven Real-Time Visual Pollution Detection and Multi-Class Waste Classification in Urban and Textile Landscapes." Procedia Computer Science 252 (2025): 529-538.</a:t>
            </a:r>
          </a:p>
          <a:p>
            <a:pPr marL="605790" indent="-342900" algn="just">
              <a:buAutoNum type="arabicPeriod"/>
            </a:pPr>
            <a:r>
              <a:rPr lang="en-US" dirty="0" err="1" smtClean="0">
                <a:latin typeface="Arial"/>
                <a:cs typeface="Arial"/>
              </a:rPr>
              <a:t>Adedeji</a:t>
            </a:r>
            <a:r>
              <a:rPr lang="en-US" dirty="0">
                <a:latin typeface="Arial"/>
                <a:cs typeface="Arial"/>
              </a:rPr>
              <a:t>, </a:t>
            </a:r>
            <a:r>
              <a:rPr lang="en-US" dirty="0" err="1">
                <a:latin typeface="Arial"/>
                <a:cs typeface="Arial"/>
              </a:rPr>
              <a:t>Olugboja</a:t>
            </a:r>
            <a:r>
              <a:rPr lang="en-US" dirty="0">
                <a:latin typeface="Arial"/>
                <a:cs typeface="Arial"/>
              </a:rPr>
              <a:t>, and </a:t>
            </a:r>
            <a:r>
              <a:rPr lang="en-US" dirty="0" err="1">
                <a:latin typeface="Arial"/>
                <a:cs typeface="Arial"/>
              </a:rPr>
              <a:t>Zenghui</a:t>
            </a:r>
            <a:r>
              <a:rPr lang="en-US" dirty="0">
                <a:latin typeface="Arial"/>
                <a:cs typeface="Arial"/>
              </a:rPr>
              <a:t> Wang. "Intelligent waste classification system using deep learning convolutional neural network." Procedia Manufacturing 35 (2019): 607-612.</a:t>
            </a:r>
            <a:endParaRPr lang="en-US" dirty="0" smtClean="0">
              <a:latin typeface="Arial"/>
              <a:cs typeface="Arial"/>
            </a:endParaRPr>
          </a:p>
          <a:p>
            <a:pPr marL="605790" indent="-342900" algn="just">
              <a:buAutoNum type="arabicPeriod"/>
            </a:pPr>
            <a:r>
              <a:rPr lang="en-US" dirty="0" smtClean="0">
                <a:latin typeface="Arial"/>
                <a:cs typeface="Arial"/>
              </a:rPr>
              <a:t>Shreya</a:t>
            </a:r>
            <a:r>
              <a:rPr lang="en-US" dirty="0">
                <a:latin typeface="Arial"/>
                <a:cs typeface="Arial"/>
              </a:rPr>
              <a:t>, M., </a:t>
            </a:r>
            <a:r>
              <a:rPr lang="en-US" dirty="0" err="1">
                <a:latin typeface="Arial"/>
                <a:cs typeface="Arial"/>
              </a:rPr>
              <a:t>Jyotika</a:t>
            </a:r>
            <a:r>
              <a:rPr lang="en-US" dirty="0">
                <a:latin typeface="Arial"/>
                <a:cs typeface="Arial"/>
              </a:rPr>
              <a:t> </a:t>
            </a:r>
            <a:r>
              <a:rPr lang="en-US" dirty="0" err="1">
                <a:latin typeface="Arial"/>
                <a:cs typeface="Arial"/>
              </a:rPr>
              <a:t>Katyal</a:t>
            </a:r>
            <a:r>
              <a:rPr lang="en-US" dirty="0">
                <a:latin typeface="Arial"/>
                <a:cs typeface="Arial"/>
              </a:rPr>
              <a:t>, and R. J. W. M. Ramesh. "Technical solutions for waste classification and management: A mini-review." Waste Management &amp; Research 41.4 (2022): 801</a:t>
            </a:r>
            <a:r>
              <a:rPr lang="en-US" dirty="0" smtClean="0">
                <a:latin typeface="Arial"/>
                <a:cs typeface="Arial"/>
              </a:rPr>
              <a:t>.</a:t>
            </a:r>
          </a:p>
          <a:p>
            <a:pPr marL="605790" indent="-342900" algn="just">
              <a:buAutoNum type="arabicPeriod"/>
            </a:pPr>
            <a:r>
              <a:rPr lang="en-US" dirty="0">
                <a:latin typeface="Arial"/>
                <a:cs typeface="Arial"/>
              </a:rPr>
              <a:t>8.	Amin, </a:t>
            </a:r>
            <a:r>
              <a:rPr lang="en-US" dirty="0" err="1">
                <a:latin typeface="Arial"/>
                <a:cs typeface="Arial"/>
              </a:rPr>
              <a:t>Zian</a:t>
            </a:r>
            <a:r>
              <a:rPr lang="en-US" dirty="0">
                <a:latin typeface="Arial"/>
                <a:cs typeface="Arial"/>
              </a:rPr>
              <a:t> Md </a:t>
            </a:r>
            <a:r>
              <a:rPr lang="en-US" dirty="0" err="1">
                <a:latin typeface="Arial"/>
                <a:cs typeface="Arial"/>
              </a:rPr>
              <a:t>Afique</a:t>
            </a:r>
            <a:r>
              <a:rPr lang="en-US" dirty="0">
                <a:latin typeface="Arial"/>
                <a:cs typeface="Arial"/>
              </a:rPr>
              <a:t>, Khan Nasik Sami, and </a:t>
            </a:r>
            <a:r>
              <a:rPr lang="en-US" dirty="0" err="1">
                <a:latin typeface="Arial"/>
                <a:cs typeface="Arial"/>
              </a:rPr>
              <a:t>Raini</a:t>
            </a:r>
            <a:r>
              <a:rPr lang="en-US" dirty="0">
                <a:latin typeface="Arial"/>
                <a:cs typeface="Arial"/>
              </a:rPr>
              <a:t> Hassan. "An approach of classifying waste using transfer learning method." International Journal on Perceptive and Cognitive Computing 7.1 (2021): 41-52.</a:t>
            </a:r>
          </a:p>
          <a:p>
            <a:pPr marL="605790" indent="-342900" algn="just">
              <a:buAutoNum type="arabicPeriod"/>
            </a:pPr>
            <a:endParaRPr lang="en-US" dirty="0" smtClean="0">
              <a:latin typeface="Arial"/>
              <a:cs typeface="Arial"/>
            </a:endParaRPr>
          </a:p>
          <a:p>
            <a:pPr algn="ctr"/>
            <a:endParaRPr lang="en-US" dirty="0"/>
          </a:p>
        </p:txBody>
      </p:sp>
    </p:spTree>
    <p:extLst>
      <p:ext uri="{BB962C8B-B14F-4D97-AF65-F5344CB8AC3E}">
        <p14:creationId xmlns:p14="http://schemas.microsoft.com/office/powerpoint/2010/main" val="1905469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normAutofit/>
          </a:bodyPr>
          <a:lstStyle/>
          <a:p>
            <a:pPr marL="0" indent="0" algn="ctr">
              <a:buNone/>
            </a:pPr>
            <a:endParaRPr lang="en-US" sz="6000" b="1" dirty="0">
              <a:solidFill>
                <a:srgbClr val="7030A0"/>
              </a:solidFill>
              <a:latin typeface="Times New Roman" pitchFamily="18" charset="0"/>
              <a:cs typeface="Times New Roman" pitchFamily="18" charset="0"/>
            </a:endParaRPr>
          </a:p>
          <a:p>
            <a:pPr marL="0" indent="0" algn="ctr">
              <a:buNone/>
            </a:pPr>
            <a:r>
              <a:rPr lang="en-US" sz="6000" b="1" dirty="0">
                <a:solidFill>
                  <a:srgbClr val="7030A0"/>
                </a:solidFill>
                <a:latin typeface="Times New Roman" pitchFamily="18" charset="0"/>
                <a:cs typeface="Times New Roman" pitchFamily="18" charset="0"/>
              </a:rPr>
              <a:t>THANK YOU</a:t>
            </a:r>
          </a:p>
          <a:p>
            <a:pPr marL="0" indent="0" algn="r">
              <a:buNone/>
            </a:pPr>
            <a:endParaRPr lang="en-US" sz="3000"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6"/>
          </p:nvPr>
        </p:nvSpPr>
        <p:spPr>
          <a:xfrm>
            <a:off x="9350248" y="5959475"/>
            <a:ext cx="2844800" cy="365125"/>
          </a:xfrm>
        </p:spPr>
        <p:txBody>
          <a:bodyPr/>
          <a:lstStyle/>
          <a:p>
            <a:pPr>
              <a:defRPr/>
            </a:pPr>
            <a:fld id="{4CD333A3-7515-47B8-9EDC-EE0892D9C861}" type="slidenum">
              <a:rPr lang="en-US" smtClean="0"/>
              <a:pPr>
                <a:defRPr/>
              </a:pPr>
              <a:t>16</a:t>
            </a:fld>
            <a:endParaRPr lang="en-US" dirty="0"/>
          </a:p>
        </p:txBody>
      </p:sp>
      <p:sp>
        <p:nvSpPr>
          <p:cNvPr id="5" name="TextBox 4">
            <a:extLst>
              <a:ext uri="{FF2B5EF4-FFF2-40B4-BE49-F238E27FC236}">
                <a16:creationId xmlns:a16="http://schemas.microsoft.com/office/drawing/2014/main" id="{2EBB629C-0461-0D8C-DA5C-C136AD5443E5}"/>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Tree>
    <p:extLst>
      <p:ext uri="{BB962C8B-B14F-4D97-AF65-F5344CB8AC3E}">
        <p14:creationId xmlns:p14="http://schemas.microsoft.com/office/powerpoint/2010/main" val="2459516608"/>
      </p:ext>
    </p:extLst>
  </p:cSld>
  <p:clrMapOvr>
    <a:masterClrMapping/>
  </p:clrMapOvr>
</p:sld>
</file>

<file path=ppt/theme/theme1.xml><?xml version="1.0" encoding="utf-8"?>
<a:theme xmlns:a="http://schemas.openxmlformats.org/drawingml/2006/main" name="New Microsoft PowerPoint Presentati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 Microsoft PowerPoint Presentation</Template>
  <TotalTime>1865</TotalTime>
  <Words>997</Words>
  <Application>Microsoft Office PowerPoint</Application>
  <PresentationFormat>Widescreen</PresentationFormat>
  <Paragraphs>151</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Century</vt:lpstr>
      <vt:lpstr>Times New Roman</vt:lpstr>
      <vt:lpstr>Wingdings</vt:lpstr>
      <vt:lpstr>New Microsoft PowerPoint Presentation</vt:lpstr>
      <vt:lpstr>Waste Classification System Using Machine Learning </vt:lpstr>
      <vt:lpstr>Outline</vt:lpstr>
      <vt:lpstr>Introduction</vt:lpstr>
      <vt:lpstr>Research Question</vt:lpstr>
      <vt:lpstr>Objective</vt:lpstr>
      <vt:lpstr>Background Study</vt:lpstr>
      <vt:lpstr>Gap Analysis</vt:lpstr>
      <vt:lpstr>Methodology</vt:lpstr>
      <vt:lpstr>Result and Analysis</vt:lpstr>
      <vt:lpstr>Result and Analysis</vt:lpstr>
      <vt:lpstr>Novelty of the Work</vt:lpstr>
      <vt:lpstr>Sample dataset</vt:lpstr>
      <vt:lpstr>Web Interface of Waste Classification </vt:lpstr>
      <vt:lpstr>Conclusion</vt:lpstr>
      <vt:lpstr>References</vt:lpstr>
      <vt:lpstr>PowerPoint Presentation</vt:lpstr>
    </vt:vector>
  </TitlesOfParts>
  <Company>Acer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Valued Acer Customer</dc:creator>
  <cp:lastModifiedBy>HP Pavilion</cp:lastModifiedBy>
  <cp:revision>281</cp:revision>
  <dcterms:created xsi:type="dcterms:W3CDTF">2011-07-17T02:56:35Z</dcterms:created>
  <dcterms:modified xsi:type="dcterms:W3CDTF">2026-01-06T18:25:19Z</dcterms:modified>
</cp:coreProperties>
</file>